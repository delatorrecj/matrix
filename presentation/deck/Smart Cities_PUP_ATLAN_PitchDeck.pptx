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143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7" d="100"/>
          <a:sy n="47" d="100"/>
        </p:scale>
        <p:origin x="1138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43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aai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"/>
            <a:ext cx="1319538" cy="658368"/>
          </a:xfrm>
          <a:prstGeom prst="rect">
            <a:avLst/>
          </a:prstGeom>
        </p:spPr>
      </p:pic>
      <p:pic>
        <p:nvPicPr>
          <p:cNvPr id="5" name="Picture 4" descr="logo_p2a_as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6048" y="182880"/>
            <a:ext cx="1257723" cy="6035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3063240"/>
            <a:ext cx="164592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Segoe UI Semibold"/>
              </a:rPr>
              <a:t>MATRIX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40680"/>
            <a:ext cx="16459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000" b="0" i="0">
                <a:solidFill>
                  <a:srgbClr val="EAF1FF"/>
                </a:solidFill>
                <a:latin typeface="Segoe UI"/>
              </a:rPr>
              <a:t>Multi-Agent Twin for Routing &amp; Infrastructure eXchange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46520"/>
            <a:ext cx="16459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500" b="0" i="0">
                <a:solidFill>
                  <a:srgbClr val="9DB2DA"/>
                </a:solidFill>
                <a:latin typeface="Segoe UI"/>
              </a:rPr>
              <a:t>See a project’s full impact — </a:t>
            </a:r>
            <a:r>
              <a:rPr sz="2500" b="1" i="0">
                <a:solidFill>
                  <a:srgbClr val="38BDF8"/>
                </a:solidFill>
                <a:latin typeface="Segoe UI Semibold"/>
              </a:rPr>
              <a:t>before you build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7772400"/>
            <a:ext cx="9875520" cy="1371600"/>
          </a:xfrm>
          <a:prstGeom prst="roundRect">
            <a:avLst>
              <a:gd name="adj" fmla="val 10000"/>
            </a:avLst>
          </a:prstGeom>
          <a:solidFill>
            <a:srgbClr val="081A45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89120" y="7973568"/>
            <a:ext cx="950976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Team ATLAN</a:t>
            </a:r>
            <a:r>
              <a:rPr sz="1800" b="0" i="0">
                <a:solidFill>
                  <a:srgbClr val="EAF1FF"/>
                </a:solidFill>
                <a:latin typeface="Segoe UI"/>
              </a:rPr>
              <a:t>   ·   Polytechnic University of the Philippines</a:t>
            </a:r>
          </a:p>
          <a:p>
            <a:pPr algn="ctr"/>
            <a:r>
              <a:rPr sz="1500" b="0" i="0">
                <a:solidFill>
                  <a:srgbClr val="9DB2DA"/>
                </a:solidFill>
                <a:latin typeface="Segoe UI"/>
              </a:rPr>
              <a:t>Smart Cities Track    ·    Pilot City: Iloilo City, Philippines</a:t>
            </a:r>
          </a:p>
        </p:txBody>
      </p:sp>
      <p:pic>
        <p:nvPicPr>
          <p:cNvPr id="12" name="Picture 11" descr="logo_word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10744200"/>
            <a:ext cx="2340434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43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aai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"/>
            <a:ext cx="1319538" cy="658368"/>
          </a:xfrm>
          <a:prstGeom prst="rect">
            <a:avLst/>
          </a:prstGeom>
        </p:spPr>
      </p:pic>
      <p:pic>
        <p:nvPicPr>
          <p:cNvPr id="5" name="Picture 4" descr="logo_p2a_as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6048" y="182880"/>
            <a:ext cx="1257723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188720"/>
            <a:ext cx="1700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38BDF8"/>
                </a:solidFill>
                <a:latin typeface="Segoe UI Semibold"/>
              </a:rPr>
              <a:t>THE ASEAN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17904"/>
            <a:ext cx="17007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 Semibold"/>
              </a:rPr>
              <a:t>Cities are building faster than they can foresee.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09270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7E93BE"/>
                </a:solidFill>
                <a:latin typeface="Segoe UI"/>
              </a:rPr>
              <a:t>MATRIX  ·  Pre-Construction Infrastructure Impact Simulator  ·  Team ATLAN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0" y="1092708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9DB2DA"/>
                </a:solidFill>
                <a:latin typeface="Consolas"/>
              </a:rPr>
              <a:t>02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42032"/>
            <a:ext cx="17007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50" b="0" i="0">
                <a:solidFill>
                  <a:srgbClr val="EAF1FF"/>
                </a:solidFill>
                <a:latin typeface="Segoe UI"/>
              </a:rPr>
              <a:t>ASEAN is in its largest urban build-out in history — and infrastructure is still approved on static feasibility studies that age the day they are filed. The damage shows up on opening day.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5385816" cy="2788920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" y="3785615"/>
            <a:ext cx="82296" cy="2532887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3950208"/>
            <a:ext cx="470001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 Semibold"/>
              </a:rPr>
              <a:t>Studies age on filing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736592"/>
            <a:ext cx="470001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EAF1FF"/>
                </a:solidFill>
                <a:latin typeface="Segoe UI"/>
              </a:rPr>
              <a:t>A 2022 traffic count cannot predict how a 2026 development reshapes a corridor, a jeepney route, or a flood path.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657600"/>
            <a:ext cx="5385816" cy="2788920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46520" y="3785615"/>
            <a:ext cx="82296" cy="2532887"/>
          </a:xfrm>
          <a:prstGeom prst="roundRect">
            <a:avLst>
              <a:gd name="adj" fmla="val 50000"/>
            </a:avLst>
          </a:prstGeom>
          <a:solidFill>
            <a:srgbClr val="F447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0" y="3950208"/>
            <a:ext cx="470001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 Semibold"/>
              </a:rPr>
              <a:t>Impacts judged in silos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4736592"/>
            <a:ext cx="470001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EAF1FF"/>
                </a:solidFill>
                <a:latin typeface="Segoe UI"/>
              </a:rPr>
              <a:t>Environment, transport, economy, and equity are each reviewed in a different office — they meet only after the project is approved.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252959" y="3657600"/>
            <a:ext cx="5385816" cy="2788920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2252959" y="3785615"/>
            <a:ext cx="82296" cy="2532887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664439" y="3950208"/>
            <a:ext cx="470001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 Semibold"/>
              </a:rPr>
              <a:t>Tools need specialists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64439" y="4736592"/>
            <a:ext cx="470001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EAF1FF"/>
                </a:solidFill>
                <a:latin typeface="Segoe UI"/>
              </a:rPr>
              <a:t>Vissim, Aimsun, CityEngine, Replica — powerful, but none takes a planner’s plain-language question and answers across domains.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6812280"/>
            <a:ext cx="17007840" cy="1417320"/>
          </a:xfrm>
          <a:prstGeom prst="roundRect">
            <a:avLst>
              <a:gd name="adj" fmla="val 6000"/>
            </a:avLst>
          </a:prstGeom>
          <a:solidFill>
            <a:srgbClr val="2A0E1E"/>
          </a:solidFill>
          <a:ln w="12700">
            <a:solidFill>
              <a:srgbClr val="7A27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6940296"/>
            <a:ext cx="82296" cy="1161288"/>
          </a:xfrm>
          <a:prstGeom prst="roundRect">
            <a:avLst>
              <a:gd name="adj" fmla="val 50000"/>
            </a:avLst>
          </a:prstGeom>
          <a:solidFill>
            <a:srgbClr val="F447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1560" y="7004304"/>
            <a:ext cx="1636775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650" b="1" i="0">
                <a:solidFill>
                  <a:srgbClr val="F4476A"/>
                </a:solidFill>
                <a:latin typeface="Segoe UI Semibold"/>
              </a:rPr>
              <a:t>Who pays for the blind spot:  </a:t>
            </a:r>
            <a:r>
              <a:rPr sz="1600" b="0" i="0">
                <a:solidFill>
                  <a:srgbClr val="EAF1FF"/>
                </a:solidFill>
                <a:latin typeface="Segoe UI"/>
              </a:rPr>
              <a:t>the commuter who loses 25–35% of the fare to first-mile travel no one modeled  ·  the informal vendor paved over because no one ran the displacement scenario  ·  the barangay that floods because runoff was calculated in isolation.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8458200"/>
            <a:ext cx="17007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7E93BE"/>
                </a:solidFill>
                <a:latin typeface="Segoe UI"/>
              </a:rPr>
              <a:t>Illustrative of a documented pattern (Montalbo, UP SURP; JICA 2014/2019; ICLEI Iloilo Roadmap) — shown as a pattern, not as cited point statistics.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43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aai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"/>
            <a:ext cx="1319538" cy="658368"/>
          </a:xfrm>
          <a:prstGeom prst="rect">
            <a:avLst/>
          </a:prstGeom>
        </p:spPr>
      </p:pic>
      <p:pic>
        <p:nvPicPr>
          <p:cNvPr id="5" name="Picture 4" descr="logo_p2a_as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6048" y="182880"/>
            <a:ext cx="1257723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188720"/>
            <a:ext cx="1700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38BDF8"/>
                </a:solidFill>
                <a:latin typeface="Segoe UI Semibold"/>
              </a:rPr>
              <a:t>THE AI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17904"/>
            <a:ext cx="17007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 Semibold"/>
              </a:rPr>
              <a:t>Drop a project on your city. See five futures in 90 seconds.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09270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7E93BE"/>
                </a:solidFill>
                <a:latin typeface="Segoe UI"/>
              </a:rPr>
              <a:t>MATRIX  ·  Pre-Construction Infrastructure Impact Simulator  ·  Team ATLAN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0" y="1092708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9DB2DA"/>
                </a:solidFill>
                <a:latin typeface="Consolas"/>
              </a:rPr>
              <a:t>03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42032"/>
            <a:ext cx="17007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50" b="0" i="0">
                <a:solidFill>
                  <a:srgbClr val="EAF1FF"/>
                </a:solidFill>
                <a:latin typeface="Segoe UI"/>
              </a:rPr>
              <a:t>A planner asks in plain language — </a:t>
            </a:r>
            <a:r>
              <a:rPr sz="1750" b="1" i="0">
                <a:solidFill>
                  <a:srgbClr val="38BDF8"/>
                </a:solidFill>
                <a:latin typeface="Segoe UI Semibold"/>
              </a:rPr>
              <a:t>“what happens if we build an 8-storey mixed-use here?”</a:t>
            </a:r>
            <a:r>
              <a:rPr sz="1750" b="0" i="0">
                <a:solidFill>
                  <a:srgbClr val="EAF1FF"/>
                </a:solidFill>
                <a:latin typeface="Segoe UI"/>
              </a:rPr>
              <a:t>  — or drops a pin. One unified kernel simulates thousands of agents; five impact modules score the same reality; the map animates and a cited narrative explains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2944368" cy="1417320"/>
          </a:xfrm>
          <a:prstGeom prst="roundRect">
            <a:avLst>
              <a:gd name="adj" fmla="val 7000"/>
            </a:avLst>
          </a:prstGeom>
          <a:solidFill>
            <a:srgbClr val="0E2456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59" y="4023360"/>
            <a:ext cx="2578608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Plain-language
query / map drop</a:t>
            </a:r>
          </a:p>
        </p:txBody>
      </p:sp>
      <p:sp>
        <p:nvSpPr>
          <p:cNvPr id="13" name="Chevron 12"/>
          <p:cNvSpPr/>
          <p:nvPr/>
        </p:nvSpPr>
        <p:spPr>
          <a:xfrm>
            <a:off x="3648456" y="4343400"/>
            <a:ext cx="438912" cy="411480"/>
          </a:xfrm>
          <a:prstGeom prst="chevron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151376" y="3840480"/>
            <a:ext cx="2944368" cy="1417320"/>
          </a:xfrm>
          <a:prstGeom prst="roundRect">
            <a:avLst>
              <a:gd name="adj" fmla="val 7000"/>
            </a:avLst>
          </a:prstGeom>
          <a:solidFill>
            <a:srgbClr val="0E2456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34256" y="4023360"/>
            <a:ext cx="2578608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Gemini orchestrator
parses the scenario</a:t>
            </a:r>
          </a:p>
        </p:txBody>
      </p:sp>
      <p:sp>
        <p:nvSpPr>
          <p:cNvPr id="16" name="Chevron 15"/>
          <p:cNvSpPr/>
          <p:nvPr/>
        </p:nvSpPr>
        <p:spPr>
          <a:xfrm>
            <a:off x="7159752" y="4343400"/>
            <a:ext cx="438912" cy="411480"/>
          </a:xfrm>
          <a:prstGeom prst="chevron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662672" y="3840480"/>
            <a:ext cx="2944368" cy="1417320"/>
          </a:xfrm>
          <a:prstGeom prst="roundRect">
            <a:avLst>
              <a:gd name="adj" fmla="val 7000"/>
            </a:avLst>
          </a:prstGeom>
          <a:solidFill>
            <a:srgbClr val="0E2456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45552" y="4023360"/>
            <a:ext cx="2578608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Unified kernel
SUMO + AI personas</a:t>
            </a:r>
          </a:p>
        </p:txBody>
      </p:sp>
      <p:sp>
        <p:nvSpPr>
          <p:cNvPr id="19" name="Chevron 18"/>
          <p:cNvSpPr/>
          <p:nvPr/>
        </p:nvSpPr>
        <p:spPr>
          <a:xfrm>
            <a:off x="10671048" y="4343400"/>
            <a:ext cx="438912" cy="411480"/>
          </a:xfrm>
          <a:prstGeom prst="chevron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1173968" y="3840480"/>
            <a:ext cx="2944368" cy="1417320"/>
          </a:xfrm>
          <a:prstGeom prst="roundRect">
            <a:avLst>
              <a:gd name="adj" fmla="val 7000"/>
            </a:avLst>
          </a:prstGeom>
          <a:solidFill>
            <a:srgbClr val="0E2456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356848" y="4023360"/>
            <a:ext cx="2578608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Five impact modules
score one reality</a:t>
            </a:r>
          </a:p>
        </p:txBody>
      </p:sp>
      <p:sp>
        <p:nvSpPr>
          <p:cNvPr id="22" name="Chevron 21"/>
          <p:cNvSpPr/>
          <p:nvPr/>
        </p:nvSpPr>
        <p:spPr>
          <a:xfrm>
            <a:off x="14182344" y="4343400"/>
            <a:ext cx="438912" cy="411480"/>
          </a:xfrm>
          <a:prstGeom prst="chevron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4685264" y="3840480"/>
            <a:ext cx="2944368" cy="1417320"/>
          </a:xfrm>
          <a:prstGeom prst="roundRect">
            <a:avLst>
              <a:gd name="adj" fmla="val 7000"/>
            </a:avLst>
          </a:prstGeom>
          <a:solidFill>
            <a:srgbClr val="0E2456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4868144" y="4023360"/>
            <a:ext cx="2578608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Animated map +
cited 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760720"/>
            <a:ext cx="17007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9DB2DA"/>
                </a:solidFill>
                <a:latin typeface="Segoe UI Semibold"/>
              </a:rPr>
              <a:t>ONE SIMULATED REALITY, SCORED FIVE WAYS — EACH WITH AN EXPLICIT CONFIDENCE LEVEL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6355080"/>
            <a:ext cx="3182112" cy="1051560"/>
          </a:xfrm>
          <a:prstGeom prst="roundRect">
            <a:avLst>
              <a:gd name="adj" fmla="val 10000"/>
            </a:avLst>
          </a:prstGeom>
          <a:solidFill>
            <a:srgbClr val="0B1E4D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40080" y="6483096"/>
            <a:ext cx="82296" cy="795527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0119" y="6537960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Behavioral</a:t>
            </a:r>
          </a:p>
          <a:p>
            <a:pPr algn="l"/>
            <a:r>
              <a:rPr sz="1150" b="0" i="0">
                <a:solidFill>
                  <a:srgbClr val="9DB2DA"/>
                </a:solidFill>
                <a:latin typeface="Segoe UI"/>
              </a:rPr>
              <a:t>Impact dimension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6511" y="6355080"/>
            <a:ext cx="3182112" cy="1051560"/>
          </a:xfrm>
          <a:prstGeom prst="roundRect">
            <a:avLst>
              <a:gd name="adj" fmla="val 10000"/>
            </a:avLst>
          </a:prstGeom>
          <a:solidFill>
            <a:srgbClr val="0B1E4D"/>
          </a:solidFill>
          <a:ln w="19050">
            <a:solidFill>
              <a:srgbClr val="F447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4096511" y="6483096"/>
            <a:ext cx="82296" cy="795527"/>
          </a:xfrm>
          <a:prstGeom prst="roundRect">
            <a:avLst>
              <a:gd name="adj" fmla="val 50000"/>
            </a:avLst>
          </a:prstGeom>
          <a:solidFill>
            <a:srgbClr val="F447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416551" y="6537960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Social</a:t>
            </a:r>
          </a:p>
          <a:p>
            <a:pPr algn="l"/>
            <a:r>
              <a:rPr sz="1150" b="0" i="0">
                <a:solidFill>
                  <a:srgbClr val="9DB2DA"/>
                </a:solidFill>
                <a:latin typeface="Segoe UI"/>
              </a:rPr>
              <a:t>Impact dimension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52944" y="6355080"/>
            <a:ext cx="3182112" cy="1051560"/>
          </a:xfrm>
          <a:prstGeom prst="roundRect">
            <a:avLst>
              <a:gd name="adj" fmla="val 10000"/>
            </a:avLst>
          </a:prstGeom>
          <a:solidFill>
            <a:srgbClr val="0B1E4D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7552944" y="6483096"/>
            <a:ext cx="82296" cy="795527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872983" y="6537960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Economic</a:t>
            </a:r>
          </a:p>
          <a:p>
            <a:pPr algn="l"/>
            <a:r>
              <a:rPr sz="1150" b="0" i="0">
                <a:solidFill>
                  <a:srgbClr val="9DB2DA"/>
                </a:solidFill>
                <a:latin typeface="Segoe UI"/>
              </a:rPr>
              <a:t>Impact dimension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009376" y="6355080"/>
            <a:ext cx="3182112" cy="1051560"/>
          </a:xfrm>
          <a:prstGeom prst="roundRect">
            <a:avLst>
              <a:gd name="adj" fmla="val 10000"/>
            </a:avLst>
          </a:prstGeom>
          <a:solidFill>
            <a:srgbClr val="0B1E4D"/>
          </a:solidFill>
          <a:ln w="1905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1009376" y="6483096"/>
            <a:ext cx="82296" cy="79552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329415" y="6537960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Ecological</a:t>
            </a:r>
          </a:p>
          <a:p>
            <a:pPr algn="l"/>
            <a:r>
              <a:rPr sz="1150" b="0" i="0">
                <a:solidFill>
                  <a:srgbClr val="9DB2DA"/>
                </a:solidFill>
                <a:latin typeface="Segoe UI"/>
              </a:rPr>
              <a:t>Impact dimension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465807" y="6355080"/>
            <a:ext cx="3182112" cy="1051560"/>
          </a:xfrm>
          <a:prstGeom prst="roundRect">
            <a:avLst>
              <a:gd name="adj" fmla="val 10000"/>
            </a:avLst>
          </a:prstGeom>
          <a:solidFill>
            <a:srgbClr val="0B1E4D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4465807" y="6483096"/>
            <a:ext cx="82296" cy="795527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4785847" y="6537960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Societal</a:t>
            </a:r>
          </a:p>
          <a:p>
            <a:pPr algn="l"/>
            <a:r>
              <a:rPr sz="1150" b="0" i="0">
                <a:solidFill>
                  <a:srgbClr val="9DB2DA"/>
                </a:solidFill>
                <a:latin typeface="Segoe UI"/>
              </a:rPr>
              <a:t>Impact dimension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7818120"/>
            <a:ext cx="17007840" cy="868680"/>
          </a:xfrm>
          <a:prstGeom prst="roundRect">
            <a:avLst>
              <a:gd name="adj" fmla="val 8000"/>
            </a:avLst>
          </a:prstGeom>
          <a:solidFill>
            <a:srgbClr val="081A45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7955279"/>
            <a:ext cx="164592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>
                <a:solidFill>
                  <a:srgbClr val="9DB2DA"/>
                </a:solidFill>
                <a:latin typeface="Segoe UI"/>
              </a:rPr>
              <a:t>From  </a:t>
            </a:r>
            <a:r>
              <a:rPr sz="1700" b="1" i="0">
                <a:solidFill>
                  <a:srgbClr val="FFFFFF"/>
                </a:solidFill>
                <a:latin typeface="Segoe UI Semibold"/>
              </a:rPr>
              <a:t>“is this allowed?”</a:t>
            </a:r>
            <a:r>
              <a:rPr sz="1700" b="0" i="0">
                <a:solidFill>
                  <a:srgbClr val="9DB2DA"/>
                </a:solidFill>
                <a:latin typeface="Segoe UI"/>
              </a:rPr>
              <a:t>  to  </a:t>
            </a:r>
            <a:r>
              <a:rPr sz="1700" b="1" i="0">
                <a:solidFill>
                  <a:srgbClr val="38BDF8"/>
                </a:solidFill>
                <a:latin typeface="Segoe UI Semibold"/>
              </a:rPr>
              <a:t>“what will this actually do?”</a:t>
            </a:r>
            <a:r>
              <a:rPr sz="1600" b="0" i="0">
                <a:solidFill>
                  <a:srgbClr val="EAF1FF"/>
                </a:solidFill>
                <a:latin typeface="Segoe UI"/>
              </a:rPr>
              <a:t>   No specialist. No modeling background. Ranges, not false precision.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43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aai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"/>
            <a:ext cx="1319538" cy="658368"/>
          </a:xfrm>
          <a:prstGeom prst="rect">
            <a:avLst/>
          </a:prstGeom>
        </p:spPr>
      </p:pic>
      <p:pic>
        <p:nvPicPr>
          <p:cNvPr id="5" name="Picture 4" descr="logo_p2a_as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6048" y="182880"/>
            <a:ext cx="1257723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188720"/>
            <a:ext cx="1700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38BDF8"/>
                </a:solidFill>
                <a:latin typeface="Segoe UI Semibold"/>
              </a:rPr>
              <a:t>COMPETITIVE ADVANTAGE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17904"/>
            <a:ext cx="17007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 Semibold"/>
              </a:rPr>
              <a:t>The combination no existing tool offers.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09270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7E93BE"/>
                </a:solidFill>
                <a:latin typeface="Segoe UI"/>
              </a:rPr>
              <a:t>MATRIX  ·  Pre-Construction Infrastructure Impact Simulator  ·  Team ATLAN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0" y="1092708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9DB2DA"/>
                </a:solidFill>
                <a:latin typeface="Consolas"/>
              </a:rPr>
              <a:t>04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06040"/>
            <a:ext cx="3108960" cy="713232"/>
          </a:xfrm>
          <a:prstGeom prst="rect">
            <a:avLst/>
          </a:prstGeom>
          <a:solidFill>
            <a:srgbClr val="3B82F6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59" y="2606040"/>
            <a:ext cx="28346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Segoe UI Semibold"/>
              </a:rPr>
              <a:t>Tool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39" y="2606040"/>
            <a:ext cx="2057400" cy="713232"/>
          </a:xfrm>
          <a:prstGeom prst="rect">
            <a:avLst/>
          </a:prstGeom>
          <a:solidFill>
            <a:srgbClr val="3B82F6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58768" y="2606040"/>
            <a:ext cx="1874519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Plain-language input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2606040"/>
            <a:ext cx="2057400" cy="713232"/>
          </a:xfrm>
          <a:prstGeom prst="rect">
            <a:avLst/>
          </a:prstGeom>
          <a:solidFill>
            <a:srgbClr val="3B82F6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16168" y="2606040"/>
            <a:ext cx="1874519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5 dimensions, one run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2606040"/>
            <a:ext cx="2194560" cy="713232"/>
          </a:xfrm>
          <a:prstGeom prst="rect">
            <a:avLst/>
          </a:prstGeom>
          <a:solidFill>
            <a:srgbClr val="3B82F6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73567" y="2606040"/>
            <a:ext cx="2011679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Per-dimension confidence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0" y="2606040"/>
            <a:ext cx="1920240" cy="713232"/>
          </a:xfrm>
          <a:prstGeom prst="rect">
            <a:avLst/>
          </a:prstGeom>
          <a:solidFill>
            <a:srgbClr val="3B82F6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168128" y="2606040"/>
            <a:ext cx="17373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No specialist needed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9272"/>
            <a:ext cx="3108960" cy="713232"/>
          </a:xfrm>
          <a:prstGeom prst="rect">
            <a:avLst/>
          </a:prstGeom>
          <a:solidFill>
            <a:srgbClr val="0B1E4D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59" y="3319272"/>
            <a:ext cx="28346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EAF1FF"/>
                </a:solidFill>
                <a:latin typeface="Segoe UI"/>
              </a:rPr>
              <a:t>PTV Vissim / Aimsun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39" y="3319272"/>
            <a:ext cx="2057400" cy="713232"/>
          </a:xfrm>
          <a:prstGeom prst="rect">
            <a:avLst/>
          </a:prstGeom>
          <a:solidFill>
            <a:srgbClr val="0B1E4D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58768" y="3319272"/>
            <a:ext cx="1874519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7E93BE"/>
                </a:solidFill>
                <a:latin typeface="Segoe UI Semibold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06440" y="3319272"/>
            <a:ext cx="2057400" cy="713232"/>
          </a:xfrm>
          <a:prstGeom prst="rect">
            <a:avLst/>
          </a:prstGeom>
          <a:solidFill>
            <a:srgbClr val="0B1E4D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16168" y="3319272"/>
            <a:ext cx="1874519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7E93BE"/>
                </a:solidFill>
                <a:latin typeface="Segoe UI Semibold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0" y="3319272"/>
            <a:ext cx="2194560" cy="713232"/>
          </a:xfrm>
          <a:prstGeom prst="rect">
            <a:avLst/>
          </a:prstGeom>
          <a:solidFill>
            <a:srgbClr val="0B1E4D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73567" y="3319272"/>
            <a:ext cx="2011679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7E93BE"/>
                </a:solidFill>
                <a:latin typeface="Segoe UI Semibold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0" y="3319272"/>
            <a:ext cx="1920240" cy="713232"/>
          </a:xfrm>
          <a:prstGeom prst="rect">
            <a:avLst/>
          </a:prstGeom>
          <a:solidFill>
            <a:srgbClr val="0B1E4D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68128" y="3319272"/>
            <a:ext cx="17373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7E93BE"/>
                </a:solidFill>
                <a:latin typeface="Segoe UI Semibold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032504"/>
            <a:ext cx="3108960" cy="713232"/>
          </a:xfrm>
          <a:prstGeom prst="rect">
            <a:avLst/>
          </a:prstGeom>
          <a:solidFill>
            <a:srgbClr val="0B1E4D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59" y="4032504"/>
            <a:ext cx="28346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EAF1FF"/>
                </a:solidFill>
                <a:latin typeface="Segoe UI"/>
              </a:rPr>
              <a:t>ESRI CityEngine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49039" y="4032504"/>
            <a:ext cx="2057400" cy="713232"/>
          </a:xfrm>
          <a:prstGeom prst="rect">
            <a:avLst/>
          </a:prstGeom>
          <a:solidFill>
            <a:srgbClr val="0B1E4D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58768" y="4032504"/>
            <a:ext cx="1874519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7E93BE"/>
                </a:solidFill>
                <a:latin typeface="Segoe UI Semibold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4032504"/>
            <a:ext cx="2057400" cy="713232"/>
          </a:xfrm>
          <a:prstGeom prst="rect">
            <a:avLst/>
          </a:prstGeom>
          <a:solidFill>
            <a:srgbClr val="0B1E4D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916168" y="4032504"/>
            <a:ext cx="1874519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7E93BE"/>
                </a:solidFill>
                <a:latin typeface="Segoe UI Semibold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63840" y="4032504"/>
            <a:ext cx="2194560" cy="713232"/>
          </a:xfrm>
          <a:prstGeom prst="rect">
            <a:avLst/>
          </a:prstGeom>
          <a:solidFill>
            <a:srgbClr val="0B1E4D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973567" y="4032504"/>
            <a:ext cx="2011679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7E93BE"/>
                </a:solidFill>
                <a:latin typeface="Segoe UI Semibold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58400" y="4032504"/>
            <a:ext cx="1920240" cy="713232"/>
          </a:xfrm>
          <a:prstGeom prst="rect">
            <a:avLst/>
          </a:prstGeom>
          <a:solidFill>
            <a:srgbClr val="0B1E4D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168128" y="4032504"/>
            <a:ext cx="17373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7E93BE"/>
                </a:solidFill>
                <a:latin typeface="Segoe UI Semibold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745736"/>
            <a:ext cx="3108960" cy="713232"/>
          </a:xfrm>
          <a:prstGeom prst="rect">
            <a:avLst/>
          </a:prstGeom>
          <a:solidFill>
            <a:srgbClr val="0B1E4D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22959" y="4745736"/>
            <a:ext cx="28346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EAF1FF"/>
                </a:solidFill>
                <a:latin typeface="Segoe UI"/>
              </a:rPr>
              <a:t>Replica / UrbanFootprint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49039" y="4745736"/>
            <a:ext cx="2057400" cy="713232"/>
          </a:xfrm>
          <a:prstGeom prst="rect">
            <a:avLst/>
          </a:prstGeom>
          <a:solidFill>
            <a:srgbClr val="0B1E4D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858768" y="4745736"/>
            <a:ext cx="1874519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7E93BE"/>
                </a:solidFill>
                <a:latin typeface="Segoe UI Semibold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06440" y="4745736"/>
            <a:ext cx="2057400" cy="713232"/>
          </a:xfrm>
          <a:prstGeom prst="rect">
            <a:avLst/>
          </a:prstGeom>
          <a:solidFill>
            <a:srgbClr val="0B1E4D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916168" y="4745736"/>
            <a:ext cx="1874519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5A524"/>
                </a:solidFill>
                <a:latin typeface="Segoe UI Semibold"/>
              </a:rPr>
              <a:t>~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63840" y="4745736"/>
            <a:ext cx="2194560" cy="713232"/>
          </a:xfrm>
          <a:prstGeom prst="rect">
            <a:avLst/>
          </a:prstGeom>
          <a:solidFill>
            <a:srgbClr val="0B1E4D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973567" y="4745736"/>
            <a:ext cx="2011679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7E93BE"/>
                </a:solidFill>
                <a:latin typeface="Segoe UI Semibold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058400" y="4745736"/>
            <a:ext cx="1920240" cy="713232"/>
          </a:xfrm>
          <a:prstGeom prst="rect">
            <a:avLst/>
          </a:prstGeom>
          <a:solidFill>
            <a:srgbClr val="0B1E4D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168128" y="4745736"/>
            <a:ext cx="17373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5A524"/>
                </a:solidFill>
                <a:latin typeface="Segoe UI Semibold"/>
              </a:rPr>
              <a:t>~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5458968"/>
            <a:ext cx="3108960" cy="713232"/>
          </a:xfrm>
          <a:prstGeom prst="rect">
            <a:avLst/>
          </a:prstGeom>
          <a:solidFill>
            <a:srgbClr val="0B1E4D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22959" y="5458968"/>
            <a:ext cx="28346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EAF1FF"/>
                </a:solidFill>
                <a:latin typeface="Segoe UI"/>
              </a:rPr>
              <a:t>AnyLogic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49039" y="5458968"/>
            <a:ext cx="2057400" cy="713232"/>
          </a:xfrm>
          <a:prstGeom prst="rect">
            <a:avLst/>
          </a:prstGeom>
          <a:solidFill>
            <a:srgbClr val="0B1E4D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858768" y="5458968"/>
            <a:ext cx="1874519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7E93BE"/>
                </a:solidFill>
                <a:latin typeface="Segoe UI Semibold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06440" y="5458968"/>
            <a:ext cx="2057400" cy="713232"/>
          </a:xfrm>
          <a:prstGeom prst="rect">
            <a:avLst/>
          </a:prstGeom>
          <a:solidFill>
            <a:srgbClr val="0B1E4D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916168" y="5458968"/>
            <a:ext cx="1874519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5A524"/>
                </a:solidFill>
                <a:latin typeface="Segoe UI Semibold"/>
              </a:rPr>
              <a:t>~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63840" y="5458968"/>
            <a:ext cx="2194560" cy="713232"/>
          </a:xfrm>
          <a:prstGeom prst="rect">
            <a:avLst/>
          </a:prstGeom>
          <a:solidFill>
            <a:srgbClr val="0B1E4D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973567" y="5458968"/>
            <a:ext cx="2011679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7E93BE"/>
                </a:solidFill>
                <a:latin typeface="Segoe UI Semibold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058400" y="5458968"/>
            <a:ext cx="1920240" cy="713232"/>
          </a:xfrm>
          <a:prstGeom prst="rect">
            <a:avLst/>
          </a:prstGeom>
          <a:solidFill>
            <a:srgbClr val="0B1E4D"/>
          </a:solidFill>
          <a:ln w="9525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168128" y="5458968"/>
            <a:ext cx="17373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7E93BE"/>
                </a:solidFill>
                <a:latin typeface="Segoe UI Semibold"/>
              </a:rPr>
              <a:t>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" y="6172200"/>
            <a:ext cx="3108960" cy="713232"/>
          </a:xfrm>
          <a:prstGeom prst="rect">
            <a:avLst/>
          </a:prstGeom>
          <a:solidFill>
            <a:srgbClr val="10336F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22959" y="6172200"/>
            <a:ext cx="28346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Segoe UI Semibold"/>
              </a:rPr>
              <a:t>MATRIX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749039" y="6172200"/>
            <a:ext cx="2057400" cy="713232"/>
          </a:xfrm>
          <a:prstGeom prst="rect">
            <a:avLst/>
          </a:prstGeom>
          <a:solidFill>
            <a:srgbClr val="10336F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3858768" y="6172200"/>
            <a:ext cx="1874519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22C55E"/>
                </a:solidFill>
                <a:latin typeface="Segoe UI Semibold"/>
              </a:rPr>
              <a:t>✓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806440" y="6172200"/>
            <a:ext cx="2057400" cy="713232"/>
          </a:xfrm>
          <a:prstGeom prst="rect">
            <a:avLst/>
          </a:prstGeom>
          <a:solidFill>
            <a:srgbClr val="10336F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916168" y="6172200"/>
            <a:ext cx="1874519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22C55E"/>
                </a:solidFill>
                <a:latin typeface="Segoe UI Semibold"/>
              </a:rPr>
              <a:t>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863840" y="6172200"/>
            <a:ext cx="2194560" cy="713232"/>
          </a:xfrm>
          <a:prstGeom prst="rect">
            <a:avLst/>
          </a:prstGeom>
          <a:solidFill>
            <a:srgbClr val="10336F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973567" y="6172200"/>
            <a:ext cx="2011679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22C55E"/>
                </a:solidFill>
                <a:latin typeface="Segoe UI Semibold"/>
              </a:rPr>
              <a:t>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058400" y="6172200"/>
            <a:ext cx="1920240" cy="713232"/>
          </a:xfrm>
          <a:prstGeom prst="rect">
            <a:avLst/>
          </a:prstGeom>
          <a:solidFill>
            <a:srgbClr val="10336F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0168128" y="6172200"/>
            <a:ext cx="17373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22C55E"/>
                </a:solidFill>
                <a:latin typeface="Segoe UI Semibold"/>
              </a:rPr>
              <a:t>✓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" y="69951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7E93BE"/>
                </a:solidFill>
                <a:latin typeface="Segoe UI"/>
              </a:rPr>
              <a:t>Based on our competitor feature survey (GTM §2.1) — a combination claim, not an unfalsifiable absolute.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2344400" y="2606040"/>
            <a:ext cx="5303520" cy="2084831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12344400" y="2734056"/>
            <a:ext cx="82296" cy="1828799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12755880" y="2862072"/>
            <a:ext cx="4617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Segoe UI Semibold"/>
              </a:rPr>
              <a:t>One kernel → five dimensions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755880" y="3520440"/>
            <a:ext cx="4617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EAF1FF"/>
                </a:solidFill>
                <a:latin typeface="Segoe UI"/>
              </a:rPr>
              <a:t>All five score the same simulated reality, so they can never contradict each other.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2344400" y="4855464"/>
            <a:ext cx="5303520" cy="2084831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ounded Rectangle 75"/>
          <p:cNvSpPr/>
          <p:nvPr/>
        </p:nvSpPr>
        <p:spPr>
          <a:xfrm>
            <a:off x="12344400" y="4983480"/>
            <a:ext cx="82296" cy="1828799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2755880" y="5111496"/>
            <a:ext cx="4617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Segoe UI Semibold"/>
              </a:rPr>
              <a:t>Glass box, by contract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755880" y="5769864"/>
            <a:ext cx="4617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EAF1FF"/>
                </a:solidFill>
                <a:latin typeface="Segoe UI"/>
              </a:rPr>
              <a:t>Every number resolves to its equation, its datasets, and a computed confidence. The LLM narrates — it never invents a number.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2344400" y="7104888"/>
            <a:ext cx="5303520" cy="2084831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12344400" y="7232904"/>
            <a:ext cx="82296" cy="1828799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12755880" y="7360920"/>
            <a:ext cx="4617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Segoe UI Semibold"/>
              </a:rPr>
              <a:t>Plain language → 90 seconds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755880" y="8019288"/>
            <a:ext cx="4617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EAF1FF"/>
                </a:solidFill>
                <a:latin typeface="Segoe UI"/>
              </a:rPr>
              <a:t>A pin or a sentence in; a calibrated, confidence-anchored five-dimension answer 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43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aai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"/>
            <a:ext cx="1319538" cy="658368"/>
          </a:xfrm>
          <a:prstGeom prst="rect">
            <a:avLst/>
          </a:prstGeom>
        </p:spPr>
      </p:pic>
      <p:pic>
        <p:nvPicPr>
          <p:cNvPr id="5" name="Picture 4" descr="logo_p2a_as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6048" y="182880"/>
            <a:ext cx="1257723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188720"/>
            <a:ext cx="1700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38BDF8"/>
                </a:solidFill>
                <a:latin typeface="Segoe UI Semibold"/>
              </a:rPr>
              <a:t>TECHNICAL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17904"/>
            <a:ext cx="17007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 Semibold"/>
              </a:rPr>
              <a:t>Inputs → AI processing → confidence-anchored outputs.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09270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7E93BE"/>
                </a:solidFill>
                <a:latin typeface="Segoe UI"/>
              </a:rPr>
              <a:t>MATRIX  ·  Pre-Construction Infrastructure Impact Simulator  ·  Team ATLAN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0" y="1092708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9DB2DA"/>
                </a:solidFill>
                <a:latin typeface="Consolas"/>
              </a:rPr>
              <a:t>05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9DB2DA"/>
                </a:solidFill>
                <a:latin typeface="Segoe UI Semibold"/>
              </a:rPr>
              <a:t>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5146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38BDF8"/>
                </a:solidFill>
                <a:latin typeface="Segoe UI Semibold"/>
              </a:rPr>
              <a:t>AI 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0" y="25146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9DB2DA"/>
                </a:solidFill>
                <a:latin typeface="Segoe UI Semibold"/>
              </a:rPr>
              <a:t>OUTPUTS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71800"/>
            <a:ext cx="5486400" cy="6583680"/>
          </a:xfrm>
          <a:prstGeom prst="roundRect">
            <a:avLst>
              <a:gd name="adj" fmla="val 4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200400"/>
            <a:ext cx="48463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38BDF8"/>
                </a:solidFill>
                <a:latin typeface="Segoe UI Semibold"/>
              </a:rPr>
              <a:t>Scenario</a:t>
            </a:r>
          </a:p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EAF1FF"/>
                </a:solidFill>
                <a:latin typeface="Segoe UI"/>
              </a:rPr>
              <a:t>Natural-language query or map pin-drop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25696"/>
            <a:ext cx="48463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38BDF8"/>
                </a:solidFill>
                <a:latin typeface="Segoe UI Semibold"/>
              </a:rPr>
              <a:t>Network</a:t>
            </a:r>
          </a:p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EAF1FF"/>
                </a:solidFill>
                <a:latin typeface="Segoe UI"/>
              </a:rPr>
              <a:t>OpenStreetMap roads, jeepney &amp; bike routes, heritage 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650992"/>
            <a:ext cx="48463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38BDF8"/>
                </a:solidFill>
                <a:latin typeface="Segoe UI Semibold"/>
              </a:rPr>
              <a:t>People</a:t>
            </a:r>
          </a:p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EAF1FF"/>
                </a:solidFill>
                <a:latin typeface="Segoe UI"/>
              </a:rPr>
              <a:t>PSA 2020/2024 census, APIS poverty by barangay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6876288"/>
            <a:ext cx="48463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38BDF8"/>
                </a:solidFill>
                <a:latin typeface="Segoe UI Semibold"/>
              </a:rPr>
              <a:t>Environment</a:t>
            </a:r>
          </a:p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EAF1FF"/>
                </a:solidFill>
                <a:latin typeface="Segoe UI"/>
              </a:rPr>
              <a:t>Sentinel-2 land cover, PAGASA / NOAH flood hazard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8101583"/>
            <a:ext cx="48463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38BDF8"/>
                </a:solidFill>
                <a:latin typeface="Segoe UI Semibold"/>
              </a:rPr>
              <a:t>Factors</a:t>
            </a:r>
          </a:p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EAF1FF"/>
                </a:solidFill>
                <a:latin typeface="Segoe UI"/>
              </a:rPr>
              <a:t>WHO/EMEP emission factors, BIR zonal land values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2971800"/>
            <a:ext cx="5486400" cy="6583680"/>
          </a:xfrm>
          <a:prstGeom prst="roundRect">
            <a:avLst>
              <a:gd name="adj" fmla="val 4000"/>
            </a:avLst>
          </a:prstGeom>
          <a:solidFill>
            <a:srgbClr val="0E2456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949440" y="3200400"/>
            <a:ext cx="4937760" cy="1417320"/>
          </a:xfrm>
          <a:prstGeom prst="roundRect">
            <a:avLst>
              <a:gd name="adj" fmla="val 6000"/>
            </a:avLst>
          </a:prstGeom>
          <a:solidFill>
            <a:srgbClr val="102C63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78040" y="3364992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Segoe UI Semibold"/>
              </a:rPr>
              <a:t>Gemini 3.1 Orchestrator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0" y="338328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050" b="1">
                <a:solidFill>
                  <a:srgbClr val="06163A"/>
                </a:solidFill>
                <a:latin typeface="Segoe UI Semibold"/>
              </a:rPr>
              <a:t>NLP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13632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EAF1FF"/>
                </a:solidFill>
                <a:latin typeface="Segoe UI"/>
              </a:rPr>
              <a:t>parse query → simulation plan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0" y="4727448"/>
            <a:ext cx="4937760" cy="1417320"/>
          </a:xfrm>
          <a:prstGeom prst="roundRect">
            <a:avLst>
              <a:gd name="adj" fmla="val 6000"/>
            </a:avLst>
          </a:prstGeom>
          <a:solidFill>
            <a:srgbClr val="102C6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78040" y="489204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Segoe UI Semibold"/>
              </a:rPr>
              <a:t>Unified Simulation Kernel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0" y="4910328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050" b="1">
                <a:solidFill>
                  <a:srgbClr val="06163A"/>
                </a:solidFill>
                <a:latin typeface="Segoe UI Semibold"/>
              </a:rPr>
              <a:t>AGENTIC SIM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544068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EAF1FF"/>
                </a:solidFill>
                <a:latin typeface="Segoe UI"/>
              </a:rPr>
              <a:t>SUMO + persona pool + bias auditor → one trajectory dataset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6254496"/>
            <a:ext cx="4937760" cy="1417320"/>
          </a:xfrm>
          <a:prstGeom prst="roundRect">
            <a:avLst>
              <a:gd name="adj" fmla="val 6000"/>
            </a:avLst>
          </a:prstGeom>
          <a:solidFill>
            <a:srgbClr val="102C6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78040" y="6419088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Segoe UI Semibold"/>
              </a:rPr>
              <a:t>Five Impact Modules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0" y="6437376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050" b="1">
                <a:solidFill>
                  <a:srgbClr val="06163A"/>
                </a:solidFill>
                <a:latin typeface="Segoe UI Semibold"/>
              </a:rPr>
              <a:t>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6967728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EAF1FF"/>
                </a:solidFill>
                <a:latin typeface="Segoe UI"/>
              </a:rPr>
              <a:t>Behavioral · Social · Economic · Ecological · Societal, in parallel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9440" y="7781544"/>
            <a:ext cx="4937760" cy="1417320"/>
          </a:xfrm>
          <a:prstGeom prst="roundRect">
            <a:avLst>
              <a:gd name="adj" fmla="val 6000"/>
            </a:avLst>
          </a:prstGeom>
          <a:solidFill>
            <a:srgbClr val="102C63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178040" y="7946136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Segoe UI Semibold"/>
              </a:rPr>
              <a:t>Synthesis + GraphRAG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41280" y="7964423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050" b="1">
                <a:solidFill>
                  <a:srgbClr val="06163A"/>
                </a:solidFill>
                <a:latin typeface="Segoe UI Semibold"/>
              </a:rPr>
              <a:t>GENAI + RAG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8494776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EAF1FF"/>
                </a:solidFill>
                <a:latin typeface="Segoe UI"/>
              </a:rPr>
              <a:t>cited narrative; retrieval over the city knowledge graph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801600" y="2971800"/>
            <a:ext cx="4846320" cy="6583680"/>
          </a:xfrm>
          <a:prstGeom prst="roundRect">
            <a:avLst>
              <a:gd name="adj" fmla="val 4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3167360" y="3200400"/>
            <a:ext cx="42062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22C55E"/>
                </a:solidFill>
                <a:latin typeface="Segoe UI Semibold"/>
              </a:rPr>
              <a:t>Animated playback</a:t>
            </a:r>
          </a:p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EAF1FF"/>
                </a:solidFill>
                <a:latin typeface="Segoe UI"/>
              </a:rPr>
              <a:t>Deck.gl TripsLayer — agents re-routing in real 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167360" y="4718304"/>
            <a:ext cx="42062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3B82F6"/>
                </a:solidFill>
                <a:latin typeface="Segoe UI Semibold"/>
              </a:rPr>
              <a:t>Five scored dimensions</a:t>
            </a:r>
          </a:p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EAF1FF"/>
                </a:solidFill>
                <a:latin typeface="Segoe UI"/>
              </a:rPr>
              <a:t>each with a High / Medium / Low confidence band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167360" y="6236208"/>
            <a:ext cx="42062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38BDF8"/>
                </a:solidFill>
                <a:latin typeface="Segoe UI Semibold"/>
              </a:rPr>
              <a:t>Glass-box Inspect</a:t>
            </a:r>
          </a:p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EAF1FF"/>
                </a:solidFill>
                <a:latin typeface="Segoe UI"/>
              </a:rPr>
              <a:t>click any number → equation + datasets + confidence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167360" y="7754112"/>
            <a:ext cx="42062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F4476A"/>
                </a:solidFill>
                <a:latin typeface="Segoe UI Semibold"/>
              </a:rPr>
              <a:t>Exportable report</a:t>
            </a:r>
          </a:p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EAF1FF"/>
                </a:solidFill>
                <a:latin typeface="Segoe UI"/>
              </a:rPr>
              <a:t>a structured recommendation for the planner</a:t>
            </a:r>
          </a:p>
        </p:txBody>
      </p:sp>
      <p:sp>
        <p:nvSpPr>
          <p:cNvPr id="41" name="Chevron 40"/>
          <p:cNvSpPr/>
          <p:nvPr/>
        </p:nvSpPr>
        <p:spPr>
          <a:xfrm>
            <a:off x="6217920" y="5989320"/>
            <a:ext cx="365760" cy="502920"/>
          </a:xfrm>
          <a:prstGeom prst="chevron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Chevron 41"/>
          <p:cNvSpPr/>
          <p:nvPr/>
        </p:nvSpPr>
        <p:spPr>
          <a:xfrm>
            <a:off x="12362688" y="5989320"/>
            <a:ext cx="365760" cy="502920"/>
          </a:xfrm>
          <a:prstGeom prst="chevron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" y="9692640"/>
            <a:ext cx="17007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1">
                <a:solidFill>
                  <a:srgbClr val="9DB2DA"/>
                </a:solidFill>
                <a:latin typeface="Segoe UI"/>
              </a:rPr>
              <a:t>Engineered to a 90-second end-to-end budget: pre-warmed personas, delta simulation vs a nightly baseline, parallel modules, and a streaming progressive UI.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43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aai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"/>
            <a:ext cx="1319538" cy="658368"/>
          </a:xfrm>
          <a:prstGeom prst="rect">
            <a:avLst/>
          </a:prstGeom>
        </p:spPr>
      </p:pic>
      <p:pic>
        <p:nvPicPr>
          <p:cNvPr id="5" name="Picture 4" descr="logo_p2a_as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6048" y="182880"/>
            <a:ext cx="1257723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188720"/>
            <a:ext cx="1700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38BDF8"/>
                </a:solidFill>
                <a:latin typeface="Segoe UI Semibold"/>
              </a:rPr>
              <a:t>AI APPROACH &amp; MODEL SELECTION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17904"/>
            <a:ext cx="17007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 Semibold"/>
              </a:rPr>
              <a:t>Four AI techniques, each model chosen on purpose.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09270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7E93BE"/>
                </a:solidFill>
                <a:latin typeface="Segoe UI"/>
              </a:rPr>
              <a:t>MATRIX  ·  Pre-Construction Infrastructure Impact Simulator  ·  Team ATLAN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0" y="1092708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9DB2DA"/>
                </a:solidFill>
                <a:latin typeface="Consolas"/>
              </a:rPr>
              <a:t>06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14600"/>
            <a:ext cx="2596896" cy="457200"/>
          </a:xfrm>
          <a:prstGeom prst="roundRect">
            <a:avLst>
              <a:gd name="adj" fmla="val 50000"/>
            </a:avLst>
          </a:prstGeom>
          <a:solidFill>
            <a:srgbClr val="0E245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200" b="1">
                <a:solidFill>
                  <a:srgbClr val="38BDF8"/>
                </a:solidFill>
                <a:latin typeface="Segoe UI Semibold"/>
              </a:rPr>
              <a:t>GENERATIVE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2514600"/>
            <a:ext cx="3419856" cy="457200"/>
          </a:xfrm>
          <a:prstGeom prst="roundRect">
            <a:avLst>
              <a:gd name="adj" fmla="val 50000"/>
            </a:avLst>
          </a:prstGeom>
          <a:solidFill>
            <a:srgbClr val="0E245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200" b="1">
                <a:solidFill>
                  <a:srgbClr val="38BDF8"/>
                </a:solidFill>
                <a:latin typeface="Segoe UI Semibold"/>
              </a:rPr>
              <a:t>AGENTIC SIMULATION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05472" y="2514600"/>
            <a:ext cx="3090672" cy="457200"/>
          </a:xfrm>
          <a:prstGeom prst="roundRect">
            <a:avLst>
              <a:gd name="adj" fmla="val 50000"/>
            </a:avLst>
          </a:prstGeom>
          <a:solidFill>
            <a:srgbClr val="0E245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200" b="1">
                <a:solidFill>
                  <a:srgbClr val="38BDF8"/>
                </a:solidFill>
                <a:latin typeface="Segoe UI Semibold"/>
              </a:rPr>
              <a:t>MACHINE LEARNING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70463" y="2514600"/>
            <a:ext cx="5394959" cy="457200"/>
          </a:xfrm>
          <a:prstGeom prst="roundRect">
            <a:avLst>
              <a:gd name="adj" fmla="val 50000"/>
            </a:avLst>
          </a:prstGeom>
          <a:solidFill>
            <a:srgbClr val="0E245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200" b="1">
                <a:solidFill>
                  <a:srgbClr val="38BDF8"/>
                </a:solidFill>
                <a:latin typeface="Segoe UI Semibold"/>
              </a:rPr>
              <a:t>RETRIEVAL-AUGMENTED GENERATION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46120"/>
            <a:ext cx="5422392" cy="2121408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0080" y="3374136"/>
            <a:ext cx="82296" cy="1865376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24127" y="3483863"/>
            <a:ext cx="478231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 Semibold"/>
              </a:rPr>
              <a:t>Gemini 3.1 Pro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7" y="3959352"/>
            <a:ext cx="47823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B82F6"/>
                </a:solidFill>
                <a:latin typeface="Segoe UI Semibold"/>
              </a:rPr>
              <a:t>ORCHESTRATION &amp; SYNTHESIS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7" y="4361688"/>
            <a:ext cx="47823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EAF1FF"/>
                </a:solidFill>
                <a:latin typeface="Segoe UI"/>
              </a:rPr>
              <a:t>Parses plain language into a sim plan; writes the cited narrative. Current generation — 1.5 and 2.0 are shut down.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28232" y="3246120"/>
            <a:ext cx="5422392" cy="2121408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28232" y="3374136"/>
            <a:ext cx="82296" cy="1865376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12280" y="3483863"/>
            <a:ext cx="478231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 Semibold"/>
              </a:rPr>
              <a:t>Gemini 3.1 Flash-Lite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959352"/>
            <a:ext cx="47823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8BDF8"/>
                </a:solidFill>
                <a:latin typeface="Segoe UI Semibold"/>
              </a:rPr>
              <a:t>HIGH-VOLUME PERSONA GENERATION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4361688"/>
            <a:ext cx="47823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EAF1FF"/>
                </a:solidFill>
                <a:latin typeface="Segoe UI"/>
              </a:rPr>
              <a:t>200–500 commuter personas on the free tier — cheap and fast enough to pre-warm the pool.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216384" y="3246120"/>
            <a:ext cx="5422392" cy="2121408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2216384" y="3374136"/>
            <a:ext cx="82296" cy="1865376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600432" y="3483863"/>
            <a:ext cx="478231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 Semibold"/>
              </a:rPr>
              <a:t>Eclipse SUMO (TraCI)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00432" y="3959352"/>
            <a:ext cx="47823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22C55E"/>
                </a:solidFill>
                <a:latin typeface="Segoe UI Semibold"/>
              </a:rPr>
              <a:t>PHYSICAL MULTI-AGENT MOBILITY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600432" y="4361688"/>
            <a:ext cx="47823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EAF1FF"/>
                </a:solidFill>
                <a:latin typeface="Segoe UI"/>
              </a:rPr>
              <a:t>The open urban-mobility standard (DLR). Not OASIS / MiroFish — those model social media, not cities.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577840"/>
            <a:ext cx="5422392" cy="2121408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5705855"/>
            <a:ext cx="82296" cy="186537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24127" y="5815583"/>
            <a:ext cx="478231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 Semibold"/>
              </a:rPr>
              <a:t>XGBoost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7" y="6291072"/>
            <a:ext cx="47823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59E0B"/>
                </a:solidFill>
                <a:latin typeface="Segoe UI Semibold"/>
              </a:rPr>
              <a:t>CORRIDOR-VOLUME BASELINE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7" y="6693407"/>
            <a:ext cx="47823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EAF1FF"/>
                </a:solidFill>
                <a:latin typeface="Segoe UI"/>
              </a:rPr>
              <a:t>Time-series forecaster for the nightly baseline that delta simulations run against.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28232" y="5577840"/>
            <a:ext cx="5422392" cy="2121408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428232" y="5705855"/>
            <a:ext cx="82296" cy="1865376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12280" y="5815583"/>
            <a:ext cx="478231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 Semibold"/>
              </a:rPr>
              <a:t>bge-small-en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6291072"/>
            <a:ext cx="47823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8B5CF6"/>
                </a:solidFill>
                <a:latin typeface="Segoe UI Semibold"/>
              </a:rPr>
              <a:t>KNOWLEDGE-GRAPH EMBEDDINGS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2280" y="6693407"/>
            <a:ext cx="47823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EAF1FF"/>
                </a:solidFill>
                <a:latin typeface="Segoe UI"/>
              </a:rPr>
              <a:t>Sentence-Transformers vectors in ChromaDB powering GraphRAG retrieval.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2216384" y="5577840"/>
            <a:ext cx="5422392" cy="2121408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2216384" y="5705855"/>
            <a:ext cx="82296" cy="1865376"/>
          </a:xfrm>
          <a:prstGeom prst="roundRect">
            <a:avLst>
              <a:gd name="adj" fmla="val 50000"/>
            </a:avLst>
          </a:prstGeom>
          <a:solidFill>
            <a:srgbClr val="F447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2600432" y="5815583"/>
            <a:ext cx="478231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 Semibold"/>
              </a:rPr>
              <a:t>Bias auditor (custom)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600432" y="6291072"/>
            <a:ext cx="47823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4476A"/>
                </a:solidFill>
                <a:latin typeface="Segoe UI Semibold"/>
              </a:rPr>
              <a:t>MODE-SHARE ANCHORING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600432" y="6693407"/>
            <a:ext cx="47823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EAF1FF"/>
                </a:solidFill>
                <a:latin typeface="Segoe UI"/>
              </a:rPr>
              <a:t>Anchors generated mode-share to ground truth and logs deviations to a public audit.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8183879"/>
            <a:ext cx="17007840" cy="868680"/>
          </a:xfrm>
          <a:prstGeom prst="roundRect">
            <a:avLst>
              <a:gd name="adj" fmla="val 7000"/>
            </a:avLst>
          </a:prstGeom>
          <a:solidFill>
            <a:srgbClr val="081A45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40080" y="8311896"/>
            <a:ext cx="82296" cy="612647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05840" y="8302752"/>
            <a:ext cx="162763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 i="0">
                <a:solidFill>
                  <a:srgbClr val="38BDF8"/>
                </a:solidFill>
                <a:latin typeface="Segoe UI Semibold"/>
              </a:rPr>
              <a:t>The guardrail:  </a:t>
            </a:r>
            <a:r>
              <a:rPr sz="1550" b="0" i="0">
                <a:solidFill>
                  <a:srgbClr val="EAF1FF"/>
                </a:solidFill>
                <a:latin typeface="Segoe UI"/>
              </a:rPr>
              <a:t>the LLM narrates and cites — it never originates a number. One kernel feeds five modules so the dimensions score one reality and cannot contradict each other.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43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aai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"/>
            <a:ext cx="1319538" cy="658368"/>
          </a:xfrm>
          <a:prstGeom prst="rect">
            <a:avLst/>
          </a:prstGeom>
        </p:spPr>
      </p:pic>
      <p:pic>
        <p:nvPicPr>
          <p:cNvPr id="5" name="Picture 4" descr="logo_p2a_as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6048" y="182880"/>
            <a:ext cx="1257723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188720"/>
            <a:ext cx="1700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38BDF8"/>
                </a:solidFill>
                <a:latin typeface="Segoe UI Semibold"/>
              </a:rPr>
              <a:t>DATA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17904"/>
            <a:ext cx="17007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 Semibold"/>
              </a:rPr>
              <a:t>Open-data-first, contact-free, and licence-clean.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09270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7E93BE"/>
                </a:solidFill>
                <a:latin typeface="Segoe UI"/>
              </a:rPr>
              <a:t>MATRIX  ·  Pre-Construction Infrastructure Impact Simulator  ·  Team ATLAN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0" y="1092708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9DB2DA"/>
                </a:solidFill>
                <a:latin typeface="Consolas"/>
              </a:rPr>
              <a:t>07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10607040" cy="1481328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0080" y="2734056"/>
            <a:ext cx="82296" cy="1225296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280720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22C55E"/>
                </a:solidFill>
                <a:latin typeface="Segoe UI Semibold"/>
              </a:rPr>
              <a:t>TIER 1 · Day-1 open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282696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EAF1FF"/>
                </a:solidFill>
                <a:latin typeface="Segoe UI"/>
              </a:rPr>
              <a:t>OSM Geofabrik (ODbL) · PSA 2020/2024 census · Sentinel-2 (ESA) · PAGASA / Project NOAH flood · WHO/EMEP emission factors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33672"/>
            <a:ext cx="10607040" cy="1481328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0080" y="4361688"/>
            <a:ext cx="82296" cy="122529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44348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59E0B"/>
                </a:solidFill>
                <a:latin typeface="Segoe UI Semibold"/>
              </a:rPr>
              <a:t>TIER 2 · Request / FOI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910328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EAF1FF"/>
                </a:solidFill>
                <a:latin typeface="Segoe UI"/>
              </a:rPr>
              <a:t>LTFRB Region VI routes · PSA APIS poverty · Iloilo City CLUP 2021–2029 — filed Day 1; open substitutes used until they arrive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61304"/>
            <a:ext cx="10607040" cy="1481328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989320"/>
            <a:ext cx="82296" cy="1225296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606247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8B5CF6"/>
                </a:solidFill>
                <a:latin typeface="Segoe UI Semibold"/>
              </a:rPr>
              <a:t>TIER 4 · Academic 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65379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EAF1FF"/>
                </a:solidFill>
                <a:latin typeface="Segoe UI"/>
              </a:rPr>
              <a:t>Calderon 2014 BRT corridor model · Macalalag 2021 bike study — anchors for validation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7543800"/>
            <a:ext cx="10607040" cy="2194560"/>
          </a:xfrm>
          <a:prstGeom prst="roundRect">
            <a:avLst>
              <a:gd name="adj" fmla="val 5000"/>
            </a:avLst>
          </a:prstGeom>
          <a:solidFill>
            <a:srgbClr val="0E2456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7726679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8BDF8"/>
                </a:solidFill>
                <a:latin typeface="Segoe UI Semibold"/>
              </a:rPr>
              <a:t>LICENSING &amp; CLEANING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8183879"/>
            <a:ext cx="100584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Licences honoured: </a:t>
            </a:r>
            <a:r>
              <a:rPr sz="1400" b="0" i="0">
                <a:solidFill>
                  <a:srgbClr val="EAF1FF"/>
                </a:solidFill>
                <a:latin typeface="Segoe UI"/>
              </a:rPr>
              <a:t>ODbL attribution, PSA &amp; ESA open terms — no scraping behind blocks.</a:t>
            </a:r>
          </a:p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Reproducible build: </a:t>
            </a:r>
            <a:r>
              <a:rPr sz="1400" b="0" i="0">
                <a:solidFill>
                  <a:srgbClr val="EAF1FF"/>
                </a:solidFill>
                <a:latin typeface="Segoe UI"/>
              </a:rPr>
              <a:t>idempotent fetch scripts; CCHAIN subset to Iloilo; BIR zonal values parsed; vintages stamped (newest first).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75720" y="2606040"/>
            <a:ext cx="6172200" cy="7132320"/>
          </a:xfrm>
          <a:prstGeom prst="roundRect">
            <a:avLst>
              <a:gd name="adj" fmla="val 5000"/>
            </a:avLst>
          </a:prstGeom>
          <a:solidFill>
            <a:srgbClr val="081A45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841480" y="2834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9DB2DA"/>
                </a:solidFill>
                <a:latin typeface="Segoe UI Semibold"/>
              </a:rPr>
              <a:t>THE FOUNDATION IN HAND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41480" y="3383280"/>
            <a:ext cx="54864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>
                <a:solidFill>
                  <a:srgbClr val="38BDF8"/>
                </a:solidFill>
                <a:latin typeface="Consolas"/>
              </a:rPr>
              <a:t>180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41480" y="4133088"/>
            <a:ext cx="5486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AF1FF"/>
                </a:solidFill>
                <a:latin typeface="Segoe UI"/>
              </a:rPr>
              <a:t>Iloilo barangays in the data foundation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41480" y="4956048"/>
            <a:ext cx="54864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>
                <a:solidFill>
                  <a:srgbClr val="38BDF8"/>
                </a:solidFill>
                <a:latin typeface="Consolas"/>
              </a:rPr>
              <a:t>78 km²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41480" y="5705856"/>
            <a:ext cx="5486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AF1FF"/>
                </a:solidFill>
                <a:latin typeface="Segoe UI"/>
              </a:rPr>
              <a:t>pilot-city footprint — a full behavioral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41480" y="6528816"/>
            <a:ext cx="54864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>
                <a:solidFill>
                  <a:srgbClr val="38BDF8"/>
                </a:solidFill>
                <a:latin typeface="Consolas"/>
              </a:rPr>
              <a:t>5,680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41480" y="7278624"/>
            <a:ext cx="5486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AF1FF"/>
                </a:solidFill>
                <a:latin typeface="Segoe UI"/>
              </a:rPr>
              <a:t>BIR-priced land parcels parsed (RDO 74)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41480" y="8101583"/>
            <a:ext cx="54864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>
                <a:solidFill>
                  <a:srgbClr val="38BDF8"/>
                </a:solidFill>
                <a:latin typeface="Consolas"/>
              </a:rPr>
              <a:t>2024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41480" y="8851392"/>
            <a:ext cx="5486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AF1FF"/>
                </a:solidFill>
                <a:latin typeface="Segoe UI"/>
              </a:rPr>
              <a:t>newest vintages preferred (POPCEN-CBMS)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43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aai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"/>
            <a:ext cx="1319538" cy="658368"/>
          </a:xfrm>
          <a:prstGeom prst="rect">
            <a:avLst/>
          </a:prstGeom>
        </p:spPr>
      </p:pic>
      <p:pic>
        <p:nvPicPr>
          <p:cNvPr id="5" name="Picture 4" descr="logo_p2a_as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6048" y="182880"/>
            <a:ext cx="1257723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188720"/>
            <a:ext cx="1700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38BDF8"/>
                </a:solidFill>
                <a:latin typeface="Segoe UI Semibold"/>
              </a:rPr>
              <a:t>AI ETHICS &amp;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17904"/>
            <a:ext cx="17007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 Semibold"/>
              </a:rPr>
              <a:t>Honesty engineered in — not bolted 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09270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7E93BE"/>
                </a:solidFill>
                <a:latin typeface="Segoe UI"/>
              </a:rPr>
              <a:t>MATRIX  ·  Pre-Construction Infrastructure Impact Simulator  ·  Team ATLAN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0" y="1092708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9DB2DA"/>
                </a:solidFill>
                <a:latin typeface="Consolas"/>
              </a:rPr>
              <a:t>08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97480"/>
            <a:ext cx="8348472" cy="2395728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0080" y="2825496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447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2971800"/>
            <a:ext cx="761695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 Semibold"/>
              </a:rPr>
              <a:t>Bias, audited in the open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657600"/>
            <a:ext cx="761695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EAF1FF"/>
                </a:solidFill>
                <a:latin typeface="Segoe UI"/>
              </a:rPr>
              <a:t>The bias auditor anchors generated persona mode-share to ground-truth mode-share and logs every deviation to a public audit. (Today it flags and surfaces; automated reweighting is on the roadmap — we say so.)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9448" y="2697480"/>
            <a:ext cx="8348472" cy="2395728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299448" y="2825496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10928" y="2971800"/>
            <a:ext cx="761695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 Semibold"/>
              </a:rPr>
              <a:t>Confidence over false precision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928" y="3657600"/>
            <a:ext cx="761695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EAF1FF"/>
                </a:solidFill>
                <a:latin typeface="Segoe UI"/>
              </a:rPr>
              <a:t>Every dimension advertises a confidence floor and reports ranges, never a fake point estimate — the safeguard data-sparse ASEAN cities actually need.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303520"/>
            <a:ext cx="8348472" cy="2395728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431536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577840"/>
            <a:ext cx="761695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 Semibold"/>
              </a:rPr>
              <a:t>The informal economy, first-class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6263640"/>
            <a:ext cx="761695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EAF1FF"/>
                </a:solidFill>
                <a:latin typeface="Segoe UI"/>
              </a:rPr>
              <a:t>Jeepney, tricycle, and street-vendor displacement are modelled explicitly in Social and Economic — exactly what imported Western tools omit.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99448" y="5303520"/>
            <a:ext cx="8348472" cy="2395728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299448" y="5431536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10928" y="5577840"/>
            <a:ext cx="761695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 Semibold"/>
              </a:rPr>
              <a:t>Privacy by design (RA 10173)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928" y="6263640"/>
            <a:ext cx="761695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EAF1FF"/>
                </a:solidFill>
                <a:latin typeface="Segoe UI"/>
              </a:rPr>
              <a:t>No personal data in the pipeline — open and aggregate sources only. The optional GPS-trace companion app is gated behind a Privacy Impact Assessment and counsel.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8092440"/>
            <a:ext cx="17007840" cy="914400"/>
          </a:xfrm>
          <a:prstGeom prst="roundRect">
            <a:avLst>
              <a:gd name="adj" fmla="val 7000"/>
            </a:avLst>
          </a:prstGeom>
          <a:solidFill>
            <a:srgbClr val="081A45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40080" y="8220456"/>
            <a:ext cx="82296" cy="65836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05840" y="8229600"/>
            <a:ext cx="162763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 i="0">
                <a:solidFill>
                  <a:srgbClr val="38BDF8"/>
                </a:solidFill>
                <a:latin typeface="Segoe UI Semibold"/>
              </a:rPr>
              <a:t>The glass box is the accountability mechanism:  </a:t>
            </a:r>
            <a:r>
              <a:rPr sz="1550" b="0" i="0">
                <a:solidFill>
                  <a:srgbClr val="EAF1FF"/>
                </a:solidFill>
                <a:latin typeface="Segoe UI"/>
              </a:rPr>
              <a:t>every number on screen is auditable to its equation, its open datasets, and a computed confidence.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43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aai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"/>
            <a:ext cx="1319538" cy="658368"/>
          </a:xfrm>
          <a:prstGeom prst="rect">
            <a:avLst/>
          </a:prstGeom>
        </p:spPr>
      </p:pic>
      <p:pic>
        <p:nvPicPr>
          <p:cNvPr id="5" name="Picture 4" descr="logo_p2a_as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6048" y="182880"/>
            <a:ext cx="1257723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188720"/>
            <a:ext cx="1700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38BDF8"/>
                </a:solidFill>
                <a:latin typeface="Segoe UI Semibold"/>
              </a:rPr>
              <a:t>PROTOTYPE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17904"/>
            <a:ext cx="17007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 Semibold"/>
              </a:rPr>
              <a:t>It runs today — and it shows its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09270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7E93BE"/>
                </a:solidFill>
                <a:latin typeface="Segoe UI"/>
              </a:rPr>
              <a:t>MATRIX  ·  Pre-Construction Infrastructure Impact Simulator  ·  Team ATLAN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0" y="1092708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9DB2DA"/>
                </a:solidFill>
                <a:latin typeface="Consolas"/>
              </a:rPr>
              <a:t>09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51760"/>
            <a:ext cx="10241280" cy="5486400"/>
          </a:xfrm>
          <a:prstGeom prst="roundRect">
            <a:avLst>
              <a:gd name="adj" fmla="val 3000"/>
            </a:avLst>
          </a:prstGeom>
          <a:solidFill>
            <a:srgbClr val="05122E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2412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38BDF8"/>
                </a:solidFill>
                <a:latin typeface="Segoe UI Semibold"/>
              </a:rPr>
              <a:t>▶  LIVE DEMO / GIF</a:t>
            </a:r>
          </a:p>
          <a:p>
            <a:pPr algn="ctr"/>
            <a:r>
              <a:rPr sz="1400" b="0" i="0">
                <a:solidFill>
                  <a:srgbClr val="9DB2DA"/>
                </a:solidFill>
                <a:latin typeface="Segoe UI"/>
              </a:rPr>
              <a:t>Deck.gl TripsLayer — simulated commuters re-routing around the new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7635240"/>
            <a:ext cx="9509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1">
                <a:solidFill>
                  <a:srgbClr val="7E93BE"/>
                </a:solidFill>
                <a:latin typeface="Segoe UI"/>
              </a:rPr>
              <a:t>Drop  scenario-playback.png  /  recorded run here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2651760"/>
            <a:ext cx="6446520" cy="2606040"/>
          </a:xfrm>
          <a:prstGeom prst="roundRect">
            <a:avLst>
              <a:gd name="adj" fmla="val 4000"/>
            </a:avLst>
          </a:prstGeom>
          <a:solidFill>
            <a:srgbClr val="05122E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201400" y="3566160"/>
            <a:ext cx="6446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38BDF8"/>
                </a:solidFill>
                <a:latin typeface="Segoe UI Semibold"/>
              </a:rPr>
              <a:t>🔍  INSPECT DRAWER</a:t>
            </a:r>
          </a:p>
          <a:p>
            <a:pPr algn="ctr"/>
            <a:r>
              <a:rPr sz="1250" b="0" i="0">
                <a:solidFill>
                  <a:srgbClr val="9DB2DA"/>
                </a:solidFill>
                <a:latin typeface="Segoe UI"/>
              </a:rPr>
              <a:t>equation → datasets → computed confidence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201400" y="5486400"/>
            <a:ext cx="6446520" cy="2651760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567160" y="56692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9DB2DA"/>
                </a:solidFill>
                <a:latin typeface="Segoe UI Semibold"/>
              </a:rPr>
              <a:t>THE AI “LOGIC”, ON SCREEN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567160" y="61264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15800" y="6108192"/>
            <a:ext cx="5394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EAF1FF"/>
                </a:solidFill>
                <a:latin typeface="Segoe UI"/>
              </a:rPr>
              <a:t>Plain-language query → Gemini sim 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567160" y="66294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15800" y="6611112"/>
            <a:ext cx="5394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EAF1FF"/>
                </a:solidFill>
                <a:latin typeface="Segoe UI"/>
              </a:rPr>
              <a:t>Kernel runs → map animates while modules compute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567160" y="71323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15800" y="7114032"/>
            <a:ext cx="5394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EAF1FF"/>
                </a:solidFill>
                <a:latin typeface="Segoe UI"/>
              </a:rPr>
              <a:t>Five dimension cards stream in with confidence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567160" y="76352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115800" y="7616952"/>
            <a:ext cx="5394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EAF1FF"/>
                </a:solidFill>
                <a:latin typeface="Segoe UI"/>
              </a:rPr>
              <a:t>Click a number → the glass box opens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8366760"/>
            <a:ext cx="17007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Segoe UI Semibold"/>
              </a:rPr>
              <a:t>Live 90-second run in the pitch, with a recorded fallback ready. </a:t>
            </a:r>
            <a:r>
              <a:rPr sz="1450" b="0" i="0">
                <a:solidFill>
                  <a:srgbClr val="EAF1FF"/>
                </a:solidFill>
                <a:latin typeface="Segoe UI"/>
              </a:rPr>
              <a:t>The kernel, all five modules, the streaming API, and this frontend run end-to-end on 180 Iloilo barangays.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43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aai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"/>
            <a:ext cx="1319538" cy="658368"/>
          </a:xfrm>
          <a:prstGeom prst="rect">
            <a:avLst/>
          </a:prstGeom>
        </p:spPr>
      </p:pic>
      <p:pic>
        <p:nvPicPr>
          <p:cNvPr id="5" name="Picture 4" descr="logo_p2a_as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6048" y="182880"/>
            <a:ext cx="1257723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188720"/>
            <a:ext cx="1700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38BDF8"/>
                </a:solidFill>
                <a:latin typeface="Segoe UI Semibold"/>
              </a:rPr>
              <a:t>TECHNICAL HURDLES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17904"/>
            <a:ext cx="17007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 Semibold"/>
              </a:rPr>
              <a:t>What broke — and how we made it honest.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09270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7E93BE"/>
                </a:solidFill>
                <a:latin typeface="Segoe UI"/>
              </a:rPr>
              <a:t>MATRIX  ·  Pre-Construction Infrastructure Impact Simulator  ·  Team ATLAN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0" y="1092708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9DB2DA"/>
                </a:solidFill>
                <a:latin typeface="Consolas"/>
              </a:rPr>
              <a:t>10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97480"/>
            <a:ext cx="8348472" cy="2487168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0080" y="2825496"/>
            <a:ext cx="82296" cy="2231136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2935224"/>
            <a:ext cx="76169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Segoe UI Semibold"/>
              </a:rPr>
              <a:t>Cross-dimension contradiction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483864"/>
            <a:ext cx="76169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1" i="0">
                <a:solidFill>
                  <a:srgbClr val="F4476A"/>
                </a:solidFill>
                <a:latin typeface="Segoe UI Semibold"/>
              </a:rPr>
              <a:t>HURDLE  </a:t>
            </a:r>
            <a:r>
              <a:rPr sz="1350" b="0" i="0">
                <a:solidFill>
                  <a:srgbClr val="9DB2DA"/>
                </a:solidFill>
                <a:latin typeface="Segoe UI"/>
              </a:rPr>
              <a:t>Five separate simulators disagreed on the same project.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160520"/>
            <a:ext cx="761695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2C55E"/>
                </a:solidFill>
                <a:latin typeface="Segoe UI Semibold"/>
              </a:rPr>
              <a:t>FIX  </a:t>
            </a:r>
            <a:r>
              <a:rPr sz="1350" b="0" i="0">
                <a:solidFill>
                  <a:srgbClr val="EAF1FF"/>
                </a:solidFill>
                <a:latin typeface="Segoe UI"/>
              </a:rPr>
              <a:t>One unified kernel → a single trajectory dataset every module scores. They physically cannot diverge.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99448" y="2697480"/>
            <a:ext cx="8348472" cy="2487168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299448" y="2825496"/>
            <a:ext cx="82296" cy="2231136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710928" y="2935224"/>
            <a:ext cx="76169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Segoe UI Semibold"/>
              </a:rPr>
              <a:t>The model inventing numbers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0928" y="3483864"/>
            <a:ext cx="76169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1" i="0">
                <a:solidFill>
                  <a:srgbClr val="F4476A"/>
                </a:solidFill>
                <a:latin typeface="Segoe UI Semibold"/>
              </a:rPr>
              <a:t>HURDLE  </a:t>
            </a:r>
            <a:r>
              <a:rPr sz="1350" b="0" i="0">
                <a:solidFill>
                  <a:srgbClr val="9DB2DA"/>
                </a:solidFill>
                <a:latin typeface="Segoe UI"/>
              </a:rPr>
              <a:t>An LLM will happily hallucinate a confident statistic.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10928" y="4160520"/>
            <a:ext cx="761695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2C55E"/>
                </a:solidFill>
                <a:latin typeface="Segoe UI Semibold"/>
              </a:rPr>
              <a:t>FIX  </a:t>
            </a:r>
            <a:r>
              <a:rPr sz="1350" b="0" i="0">
                <a:solidFill>
                  <a:srgbClr val="EAF1FF"/>
                </a:solidFill>
                <a:latin typeface="Segoe UI"/>
              </a:rPr>
              <a:t>A glass-box contract + citation guard + an auditor that blocks the merge if any number ships unprovenanced.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94960"/>
            <a:ext cx="8348472" cy="2487168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40080" y="5522976"/>
            <a:ext cx="82296" cy="223113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51560" y="5632704"/>
            <a:ext cx="76169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Segoe UI Semibold"/>
              </a:rPr>
              <a:t>The 90-second budget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6181344"/>
            <a:ext cx="76169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1" i="0">
                <a:solidFill>
                  <a:srgbClr val="F4476A"/>
                </a:solidFill>
                <a:latin typeface="Segoe UI Semibold"/>
              </a:rPr>
              <a:t>HURDLE  </a:t>
            </a:r>
            <a:r>
              <a:rPr sz="1350" b="0" i="0">
                <a:solidFill>
                  <a:srgbClr val="9DB2DA"/>
                </a:solidFill>
                <a:latin typeface="Segoe UI"/>
              </a:rPr>
              <a:t>A cold run still clocks ~123 s, over target.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6858000"/>
            <a:ext cx="761695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2C55E"/>
                </a:solidFill>
                <a:latin typeface="Segoe UI Semibold"/>
              </a:rPr>
              <a:t>FIX  </a:t>
            </a:r>
            <a:r>
              <a:rPr sz="1350" b="0" i="0">
                <a:solidFill>
                  <a:srgbClr val="EAF1FF"/>
                </a:solidFill>
                <a:latin typeface="Segoe UI"/>
              </a:rPr>
              <a:t>Pre-warmed personas, delta-vs-baseline, parallel modules, and a trajectory cache — repeat runs return in &lt;1 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99448" y="5394960"/>
            <a:ext cx="8348472" cy="2487168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9299448" y="5522976"/>
            <a:ext cx="82296" cy="2231136"/>
          </a:xfrm>
          <a:prstGeom prst="roundRect">
            <a:avLst>
              <a:gd name="adj" fmla="val 50000"/>
            </a:avLst>
          </a:prstGeom>
          <a:solidFill>
            <a:srgbClr val="F447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710928" y="5632704"/>
            <a:ext cx="76169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Segoe UI Semibold"/>
              </a:rPr>
              <a:t>Data gaps &amp; provisional inputs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10928" y="6181344"/>
            <a:ext cx="76169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1" i="0">
                <a:solidFill>
                  <a:srgbClr val="F4476A"/>
                </a:solidFill>
                <a:latin typeface="Segoe UI Semibold"/>
              </a:rPr>
              <a:t>HURDLE  </a:t>
            </a:r>
            <a:r>
              <a:rPr sz="1350" b="0" i="0">
                <a:solidFill>
                  <a:srgbClr val="9DB2DA"/>
                </a:solidFill>
                <a:latin typeface="Segoe UI"/>
              </a:rPr>
              <a:t>Mode-share isn’t calibrated; one flood fixture is provisional.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10928" y="6858000"/>
            <a:ext cx="761695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2C55E"/>
                </a:solidFill>
                <a:latin typeface="Segoe UI Semibold"/>
              </a:rPr>
              <a:t>FIX  </a:t>
            </a:r>
            <a:r>
              <a:rPr sz="1350" b="0" i="0">
                <a:solidFill>
                  <a:srgbClr val="EAF1FF"/>
                </a:solidFill>
                <a:latin typeface="Segoe UI"/>
              </a:rPr>
              <a:t>We label them: Behavioral stays Medium, the fixture reads PROVISIONAL. Labelling provisional data is the feature.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8275320"/>
            <a:ext cx="17007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>
                <a:solidFill>
                  <a:srgbClr val="9DB2DA"/>
                </a:solidFill>
                <a:latin typeface="Segoe UI"/>
              </a:rPr>
              <a:t>Every stage is now measured and visible — we optimise against real numbers, and we say “target,” “planned,” and “provisional” out loud. That discipline is the brand.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43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aai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"/>
            <a:ext cx="1319538" cy="658368"/>
          </a:xfrm>
          <a:prstGeom prst="rect">
            <a:avLst/>
          </a:prstGeom>
        </p:spPr>
      </p:pic>
      <p:pic>
        <p:nvPicPr>
          <p:cNvPr id="5" name="Picture 4" descr="logo_p2a_as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6048" y="182880"/>
            <a:ext cx="1257723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188720"/>
            <a:ext cx="1700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38BDF8"/>
                </a:solidFill>
                <a:latin typeface="Segoe UI Semibold"/>
              </a:rPr>
              <a:t>ACCURACY &amp; 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17904"/>
            <a:ext cx="17007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 Semibold"/>
              </a:rPr>
              <a:t>Computed, not asserted — and honest about what isn’t ready.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09270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7E93BE"/>
                </a:solidFill>
                <a:latin typeface="Segoe UI"/>
              </a:rPr>
              <a:t>MATRIX  ·  Pre-Construction Infrastructure Impact Simulator  ·  Team ATLAN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0" y="1092708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9DB2DA"/>
                </a:solidFill>
                <a:latin typeface="Consolas"/>
              </a:rPr>
              <a:t>11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1700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8BDF8"/>
                </a:solidFill>
                <a:latin typeface="Segoe UI Semibold"/>
              </a:rPr>
              <a:t>EFFICIENCY — MEASURED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26080"/>
            <a:ext cx="3182112" cy="1783080"/>
          </a:xfrm>
          <a:prstGeom prst="roundRect">
            <a:avLst>
              <a:gd name="adj" fmla="val 6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127248"/>
            <a:ext cx="3182112" cy="868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4400" b="1" i="0">
                <a:solidFill>
                  <a:srgbClr val="22C55E"/>
                </a:solidFill>
                <a:latin typeface="Consolas"/>
              </a:rPr>
              <a:t>186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005072"/>
            <a:ext cx="28163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9DB2DA"/>
                </a:solidFill>
                <a:latin typeface="Segoe UI"/>
              </a:rPr>
              <a:t>kernel tests pass (1 skipped)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96511" y="2926080"/>
            <a:ext cx="3182112" cy="1783080"/>
          </a:xfrm>
          <a:prstGeom prst="roundRect">
            <a:avLst>
              <a:gd name="adj" fmla="val 6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96511" y="3127248"/>
            <a:ext cx="3182112" cy="868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4400" b="1" i="0">
                <a:solidFill>
                  <a:srgbClr val="3B82F6"/>
                </a:solidFill>
                <a:latin typeface="Consolas"/>
              </a:rPr>
              <a:t>90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392" y="4005072"/>
            <a:ext cx="28163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9DB2DA"/>
                </a:solidFill>
                <a:latin typeface="Segoe UI"/>
              </a:rPr>
              <a:t>end-to-end budget (target)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52944" y="2926080"/>
            <a:ext cx="3182112" cy="1783080"/>
          </a:xfrm>
          <a:prstGeom prst="roundRect">
            <a:avLst>
              <a:gd name="adj" fmla="val 6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52944" y="3127248"/>
            <a:ext cx="3182112" cy="868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4400" b="1" i="0">
                <a:solidFill>
                  <a:srgbClr val="38BDF8"/>
                </a:solidFill>
                <a:latin typeface="Consolas"/>
              </a:rPr>
              <a:t>&lt;1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3" y="4005072"/>
            <a:ext cx="28163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9DB2DA"/>
                </a:solidFill>
                <a:latin typeface="Segoe UI"/>
              </a:rPr>
              <a:t>warm / cached repeat run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009376" y="2926080"/>
            <a:ext cx="3182112" cy="1783080"/>
          </a:xfrm>
          <a:prstGeom prst="roundRect">
            <a:avLst>
              <a:gd name="adj" fmla="val 6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009376" y="3127248"/>
            <a:ext cx="3182112" cy="868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4400" b="1" i="0">
                <a:solidFill>
                  <a:srgbClr val="3B82F6"/>
                </a:solidFill>
                <a:latin typeface="Consola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92255" y="4005072"/>
            <a:ext cx="28163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9DB2DA"/>
                </a:solidFill>
                <a:latin typeface="Segoe UI"/>
              </a:rPr>
              <a:t>dimensions, one kernel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465807" y="2926080"/>
            <a:ext cx="3182112" cy="1783080"/>
          </a:xfrm>
          <a:prstGeom prst="roundRect">
            <a:avLst>
              <a:gd name="adj" fmla="val 6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4465807" y="3127248"/>
            <a:ext cx="3182112" cy="868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4400" b="1" i="0">
                <a:solidFill>
                  <a:srgbClr val="F5A524"/>
                </a:solidFill>
                <a:latin typeface="Consolas"/>
              </a:rPr>
              <a:t>~123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48688" y="4005072"/>
            <a:ext cx="28163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9DB2DA"/>
                </a:solidFill>
                <a:latin typeface="Segoe UI"/>
              </a:rPr>
              <a:t>cold run — over target, honest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983480"/>
            <a:ext cx="1700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8BDF8"/>
                </a:solidFill>
                <a:latin typeface="Segoe UI Semibold"/>
              </a:rPr>
              <a:t>ACCURACY — A VALIDATION HARNESS THAT GRADES ITSELF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440680"/>
            <a:ext cx="8348472" cy="1783080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0080" y="5568696"/>
            <a:ext cx="82296" cy="1527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1560" y="5632704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Segoe UI Semibold"/>
              </a:rPr>
              <a:t>VAL-01 · Behavioral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6126480"/>
            <a:ext cx="7589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350" b="0" i="0">
                <a:solidFill>
                  <a:srgbClr val="EAF1FF"/>
                </a:solidFill>
                <a:latin typeface="Segoe UI"/>
              </a:rPr>
              <a:t>Normalised RMSE vs the Calderon 2014 Iloilo BRT corridor.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6729984"/>
            <a:ext cx="7589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onsolas"/>
              </a:rPr>
              <a:t>Threshold ≤ 0.30  (FHWA corridor band)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99448" y="5440680"/>
            <a:ext cx="8348472" cy="1783080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9299448" y="5568696"/>
            <a:ext cx="82296" cy="152704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710928" y="5632704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Segoe UI Semibold"/>
              </a:rPr>
              <a:t>VAL-02 · Flood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10928" y="6126480"/>
            <a:ext cx="7589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350" b="0" i="0">
                <a:solidFill>
                  <a:srgbClr val="EAF1FF"/>
                </a:solidFill>
                <a:latin typeface="Segoe UI"/>
              </a:rPr>
              <a:t>Spatial IoU back-test vs the 2024 Iloilo flood extent.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0928" y="6729984"/>
            <a:ext cx="7589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  <a:latin typeface="Consolas"/>
              </a:rPr>
              <a:t>Threshold ≥ 0.50  (Horritt &amp; Bates 2002)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7498079"/>
            <a:ext cx="17007840" cy="1371600"/>
          </a:xfrm>
          <a:prstGeom prst="roundRect">
            <a:avLst>
              <a:gd name="adj" fmla="val 6000"/>
            </a:avLst>
          </a:prstGeom>
          <a:solidFill>
            <a:srgbClr val="2A1A06"/>
          </a:solidFill>
          <a:ln w="12700">
            <a:solidFill>
              <a:srgbClr val="7A5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640080" y="7626096"/>
            <a:ext cx="82296" cy="1115568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51560" y="7680960"/>
            <a:ext cx="1636775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600" b="1" i="0">
                <a:solidFill>
                  <a:srgbClr val="F5A524"/>
                </a:solidFill>
                <a:latin typeface="Segoe UI Semibold"/>
              </a:rPr>
              <a:t>The headline RMSE is deliberately withheld. </a:t>
            </a:r>
            <a:r>
              <a:rPr sz="1500" b="0" i="0">
                <a:solidFill>
                  <a:srgbClr val="EAF1FF"/>
                </a:solidFill>
                <a:latin typeface="Segoe UI"/>
              </a:rPr>
              <a:t>Mode-share isn’t calibrated yet, so Behavioral stays Medium and the flood fixture is PROVISIONAL. Publishing a confident number from uncalibrated demand would violate the glass-box principle the product is built on. The harness is built, it runs, and it publishes the moment the calibration data lands.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43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aai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"/>
            <a:ext cx="1319538" cy="658368"/>
          </a:xfrm>
          <a:prstGeom prst="rect">
            <a:avLst/>
          </a:prstGeom>
        </p:spPr>
      </p:pic>
      <p:pic>
        <p:nvPicPr>
          <p:cNvPr id="5" name="Picture 4" descr="logo_p2a_as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6048" y="182880"/>
            <a:ext cx="1257723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188720"/>
            <a:ext cx="1700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38BDF8"/>
                </a:solidFill>
                <a:latin typeface="Segoe UI Semibold"/>
              </a:rPr>
              <a:t>SCALABILITY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17904"/>
            <a:ext cx="17007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 Semibold"/>
              </a:rPr>
              <a:t>One city to ASEAN — a config change, not a rebuild.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09270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7E93BE"/>
                </a:solidFill>
                <a:latin typeface="Segoe UI"/>
              </a:rPr>
              <a:t>MATRIX  ·  Pre-Construction Infrastructure Impact Simulator  ·  Team ATLAN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0" y="1092708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9DB2DA"/>
                </a:solidFill>
                <a:latin typeface="Consolas"/>
              </a:rPr>
              <a:t>12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17007840" cy="1371600"/>
          </a:xfrm>
          <a:prstGeom prst="roundRect">
            <a:avLst>
              <a:gd name="adj" fmla="val 5000"/>
            </a:avLst>
          </a:prstGeom>
          <a:solidFill>
            <a:srgbClr val="0E245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798064"/>
            <a:ext cx="1636775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38BDF8"/>
                </a:solidFill>
                <a:latin typeface="Segoe UI Semibold"/>
              </a:rPr>
              <a:t>Zero hardware. </a:t>
            </a:r>
            <a:r>
              <a:rPr sz="1600" b="0" i="0">
                <a:solidFill>
                  <a:srgbClr val="EAF1FF"/>
                </a:solidFill>
                <a:latin typeface="Segoe UI"/>
              </a:rPr>
              <a:t>Scaling to a new city = swap the OpenStreetMap bounding box (API-level) and reweight the commuter personas to local modes (prompt-level). The city-agnostic CityConfig already lives in the code.</a:t>
            </a:r>
          </a:p>
          <a:p>
            <a:pPr algn="l"/>
            <a:r>
              <a:rPr sz="1550" b="1" i="0">
                <a:solidFill>
                  <a:srgbClr val="FFFFFF"/>
                </a:solidFill>
                <a:latin typeface="Segoe UI Semibold"/>
              </a:rPr>
              <a:t>The cost of a new ASEAN city is API tokens — not procurement.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343400"/>
            <a:ext cx="3182112" cy="4023360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587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14400" y="461772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200" b="1">
                <a:solidFill>
                  <a:srgbClr val="06163A"/>
                </a:solidFill>
                <a:latin typeface="Segoe UI Semibold"/>
              </a:rPr>
              <a:t>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5303520"/>
            <a:ext cx="26334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100" b="1" i="0">
                <a:solidFill>
                  <a:srgbClr val="FFFFFF"/>
                </a:solidFill>
                <a:latin typeface="Segoe UI Semibold"/>
              </a:rPr>
              <a:t>Iloilo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6126480"/>
            <a:ext cx="26334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22C55E"/>
                </a:solidFill>
                <a:latin typeface="Segoe UI Semibold"/>
              </a:rPr>
              <a:t>Pilot city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6629400"/>
            <a:ext cx="26334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9DB2DA"/>
                </a:solidFill>
                <a:latin typeface="Segoe UI"/>
              </a:rPr>
              <a:t>Informal transit modes:</a:t>
            </a:r>
          </a:p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EAF1FF"/>
                </a:solidFill>
                <a:latin typeface="Segoe UI Semibold"/>
              </a:rPr>
              <a:t>jeepney · tricycle · pedicab</a:t>
            </a:r>
          </a:p>
        </p:txBody>
      </p:sp>
      <p:sp>
        <p:nvSpPr>
          <p:cNvPr id="17" name="Chevron 16"/>
          <p:cNvSpPr/>
          <p:nvPr/>
        </p:nvSpPr>
        <p:spPr>
          <a:xfrm>
            <a:off x="3849624" y="6126480"/>
            <a:ext cx="219456" cy="457200"/>
          </a:xfrm>
          <a:prstGeom prst="chevron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096511" y="4343400"/>
            <a:ext cx="3182112" cy="4023360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370831" y="461772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200" b="1">
                <a:solidFill>
                  <a:srgbClr val="06163A"/>
                </a:solidFill>
                <a:latin typeface="Segoe UI Semibold"/>
              </a:rPr>
              <a:t>NEXT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303520"/>
            <a:ext cx="26334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100" b="1" i="0">
                <a:solidFill>
                  <a:srgbClr val="FFFFFF"/>
                </a:solidFill>
                <a:latin typeface="Segoe UI Semibold"/>
              </a:rPr>
              <a:t>PH cities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6126480"/>
            <a:ext cx="26334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B82F6"/>
                </a:solidFill>
                <a:latin typeface="Segoe UI Semibold"/>
              </a:rPr>
              <a:t>Cebu · Davao · Bacolod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6629400"/>
            <a:ext cx="26334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9DB2DA"/>
                </a:solidFill>
                <a:latin typeface="Segoe UI"/>
              </a:rPr>
              <a:t>Informal transit modes:</a:t>
            </a:r>
          </a:p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EAF1FF"/>
                </a:solidFill>
                <a:latin typeface="Segoe UI Semibold"/>
              </a:rPr>
              <a:t>same modes, new bbox</a:t>
            </a:r>
          </a:p>
        </p:txBody>
      </p:sp>
      <p:sp>
        <p:nvSpPr>
          <p:cNvPr id="23" name="Chevron 22"/>
          <p:cNvSpPr/>
          <p:nvPr/>
        </p:nvSpPr>
        <p:spPr>
          <a:xfrm>
            <a:off x="7306055" y="6126480"/>
            <a:ext cx="219456" cy="457200"/>
          </a:xfrm>
          <a:prstGeom prst="chevron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552944" y="4343400"/>
            <a:ext cx="3182112" cy="4023360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827264" y="461772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200" b="1">
                <a:solidFill>
                  <a:srgbClr val="06163A"/>
                </a:solidFill>
                <a:latin typeface="Segoe UI Semibold"/>
              </a:rPr>
              <a:t>ASEAN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45552" y="5303520"/>
            <a:ext cx="26334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100" b="1" i="0">
                <a:solidFill>
                  <a:srgbClr val="FFFFFF"/>
                </a:solidFill>
                <a:latin typeface="Segoe UI Semibold"/>
              </a:rPr>
              <a:t>Jakarta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45552" y="6126480"/>
            <a:ext cx="26334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F59E0B"/>
                </a:solidFill>
                <a:latin typeface="Segoe UI Semibold"/>
              </a:rPr>
              <a:t>Indonesia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5552" y="6629400"/>
            <a:ext cx="26334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9DB2DA"/>
                </a:solidFill>
                <a:latin typeface="Segoe UI"/>
              </a:rPr>
              <a:t>Informal transit modes:</a:t>
            </a:r>
          </a:p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EAF1FF"/>
                </a:solidFill>
                <a:latin typeface="Segoe UI Semibold"/>
              </a:rPr>
              <a:t>ojek · angkot</a:t>
            </a:r>
          </a:p>
        </p:txBody>
      </p:sp>
      <p:sp>
        <p:nvSpPr>
          <p:cNvPr id="29" name="Chevron 28"/>
          <p:cNvSpPr/>
          <p:nvPr/>
        </p:nvSpPr>
        <p:spPr>
          <a:xfrm>
            <a:off x="10762488" y="6126480"/>
            <a:ext cx="219456" cy="457200"/>
          </a:xfrm>
          <a:prstGeom prst="chevron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1009376" y="4343400"/>
            <a:ext cx="3182112" cy="4023360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1283696" y="461772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200" b="1">
                <a:solidFill>
                  <a:srgbClr val="06163A"/>
                </a:solidFill>
                <a:latin typeface="Segoe UI Semibold"/>
              </a:rPr>
              <a:t>ASEAN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01984" y="5303520"/>
            <a:ext cx="26334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100" b="1" i="0">
                <a:solidFill>
                  <a:srgbClr val="FFFFFF"/>
                </a:solidFill>
                <a:latin typeface="Segoe UI Semibold"/>
              </a:rPr>
              <a:t>Bangkok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01984" y="6126480"/>
            <a:ext cx="26334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8B5CF6"/>
                </a:solidFill>
                <a:latin typeface="Segoe UI Semibold"/>
              </a:rPr>
              <a:t>Thailand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01984" y="6629400"/>
            <a:ext cx="26334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9DB2DA"/>
                </a:solidFill>
                <a:latin typeface="Segoe UI"/>
              </a:rPr>
              <a:t>Informal transit modes:</a:t>
            </a:r>
          </a:p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EAF1FF"/>
                </a:solidFill>
                <a:latin typeface="Segoe UI Semibold"/>
              </a:rPr>
              <a:t>songthaew · tuk-tuk</a:t>
            </a:r>
          </a:p>
        </p:txBody>
      </p:sp>
      <p:sp>
        <p:nvSpPr>
          <p:cNvPr id="35" name="Chevron 34"/>
          <p:cNvSpPr/>
          <p:nvPr/>
        </p:nvSpPr>
        <p:spPr>
          <a:xfrm>
            <a:off x="14218919" y="6126480"/>
            <a:ext cx="219456" cy="457200"/>
          </a:xfrm>
          <a:prstGeom prst="chevron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4465807" y="4343400"/>
            <a:ext cx="3182112" cy="4023360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5875">
            <a:solidFill>
              <a:srgbClr val="F447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4740127" y="461772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F447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200" b="1">
                <a:solidFill>
                  <a:srgbClr val="06163A"/>
                </a:solidFill>
                <a:latin typeface="Segoe UI Semibold"/>
              </a:rPr>
              <a:t>ASEAN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758415" y="5303520"/>
            <a:ext cx="26334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100" b="1" i="0">
                <a:solidFill>
                  <a:srgbClr val="FFFFFF"/>
                </a:solidFill>
                <a:latin typeface="Segoe UI Semibold"/>
              </a:rPr>
              <a:t>Ho Chi Minh / KL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758415" y="6126480"/>
            <a:ext cx="26334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F4476A"/>
                </a:solidFill>
                <a:latin typeface="Segoe UI Semibold"/>
              </a:rPr>
              <a:t>Vietnam · Malaysia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758415" y="6629400"/>
            <a:ext cx="26334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9DB2DA"/>
                </a:solidFill>
                <a:latin typeface="Segoe UI"/>
              </a:rPr>
              <a:t>Informal transit modes:</a:t>
            </a:r>
          </a:p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EAF1FF"/>
                </a:solidFill>
                <a:latin typeface="Segoe UI Semibold"/>
              </a:rPr>
              <a:t>xe-om · RapidKL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8595360"/>
            <a:ext cx="17007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1">
                <a:solidFill>
                  <a:srgbClr val="9DB2DA"/>
                </a:solidFill>
                <a:latin typeface="Segoe UI"/>
              </a:rPr>
              <a:t>Naming the local informal-transit modes — ojek, angkot, songthaew, tuk-tuk, xe-om — is exactly what imported Western planning tools cannot 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43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aai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"/>
            <a:ext cx="1319538" cy="658368"/>
          </a:xfrm>
          <a:prstGeom prst="rect">
            <a:avLst/>
          </a:prstGeom>
        </p:spPr>
      </p:pic>
      <p:pic>
        <p:nvPicPr>
          <p:cNvPr id="5" name="Picture 4" descr="logo_p2a_as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6048" y="182880"/>
            <a:ext cx="1257723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188720"/>
            <a:ext cx="1700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38BDF8"/>
                </a:solidFill>
                <a:latin typeface="Segoe UI Semibold"/>
              </a:rPr>
              <a:t>IMPACT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17904"/>
            <a:ext cx="17007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 Semibold"/>
              </a:rPr>
              <a:t>Aligned to the UN SDGs and ASEAN resilience goals.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09270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7E93BE"/>
                </a:solidFill>
                <a:latin typeface="Segoe UI"/>
              </a:rPr>
              <a:t>MATRIX  ·  Pre-Construction Infrastructure Impact Simulator  ·  Team ATLAN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0" y="1092708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9DB2DA"/>
                </a:solidFill>
                <a:latin typeface="Consolas"/>
              </a:rPr>
              <a:t>13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97480"/>
            <a:ext cx="3182112" cy="1874519"/>
          </a:xfrm>
          <a:prstGeom prst="roundRect">
            <a:avLst>
              <a:gd name="adj" fmla="val 6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60119" y="3063240"/>
            <a:ext cx="1143000" cy="1143000"/>
          </a:xfrm>
          <a:prstGeom prst="roundRect">
            <a:avLst>
              <a:gd name="adj" fmla="val 8000"/>
            </a:avLst>
          </a:prstGeom>
          <a:solidFill>
            <a:srgbClr val="FD9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 Semibold"/>
              </a:rPr>
              <a:t>SDG
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154680"/>
            <a:ext cx="1353312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Sustainable Cities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96511" y="2697480"/>
            <a:ext cx="3182112" cy="1874519"/>
          </a:xfrm>
          <a:prstGeom prst="roundRect">
            <a:avLst>
              <a:gd name="adj" fmla="val 6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416551" y="3063240"/>
            <a:ext cx="1143000" cy="1143000"/>
          </a:xfrm>
          <a:prstGeom prst="roundRect">
            <a:avLst>
              <a:gd name="adj" fmla="val 8000"/>
            </a:avLst>
          </a:prstGeom>
          <a:solidFill>
            <a:srgbClr val="3F7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 Semibold"/>
              </a:rPr>
              <a:t>SDG
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42431" y="3154680"/>
            <a:ext cx="1353312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Climate Action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52944" y="2697480"/>
            <a:ext cx="3182112" cy="1874519"/>
          </a:xfrm>
          <a:prstGeom prst="roundRect">
            <a:avLst>
              <a:gd name="adj" fmla="val 6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72983" y="3063240"/>
            <a:ext cx="1143000" cy="1143000"/>
          </a:xfrm>
          <a:prstGeom prst="roundRect">
            <a:avLst>
              <a:gd name="adj" fmla="val 8000"/>
            </a:avLst>
          </a:prstGeom>
          <a:solidFill>
            <a:srgbClr val="FD69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 Semibold"/>
              </a:rPr>
              <a:t>SDG
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8864" y="3154680"/>
            <a:ext cx="1353312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Industry &amp; Innovation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009376" y="2697480"/>
            <a:ext cx="3182112" cy="1874519"/>
          </a:xfrm>
          <a:prstGeom prst="roundRect">
            <a:avLst>
              <a:gd name="adj" fmla="val 6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1329415" y="3063240"/>
            <a:ext cx="1143000" cy="1143000"/>
          </a:xfrm>
          <a:prstGeom prst="roundRect">
            <a:avLst>
              <a:gd name="adj" fmla="val 8000"/>
            </a:avLst>
          </a:prstGeom>
          <a:solidFill>
            <a:srgbClr val="DD1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 Semibold"/>
              </a:rPr>
              <a:t>SDG
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5296" y="3154680"/>
            <a:ext cx="1353312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Reduced Inequalities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465807" y="2697480"/>
            <a:ext cx="3182112" cy="1874519"/>
          </a:xfrm>
          <a:prstGeom prst="roundRect">
            <a:avLst>
              <a:gd name="adj" fmla="val 6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4785847" y="3063240"/>
            <a:ext cx="1143000" cy="1143000"/>
          </a:xfrm>
          <a:prstGeom prst="roundRect">
            <a:avLst>
              <a:gd name="adj" fmla="val 8000"/>
            </a:avLst>
          </a:prstGeom>
          <a:solidFill>
            <a:srgbClr val="4C9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 Semibold"/>
              </a:rPr>
              <a:t>SDG
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111727" y="3154680"/>
            <a:ext cx="1353312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Good Health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937760"/>
            <a:ext cx="11338560" cy="1371600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0080" y="5065776"/>
            <a:ext cx="82296" cy="111556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1560" y="5138928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Segoe UI Semibold"/>
              </a:rPr>
              <a:t>De-risks capital before it’s committed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632704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0" i="0">
                <a:solidFill>
                  <a:srgbClr val="EAF1FF"/>
                </a:solidFill>
                <a:latin typeface="Segoe UI"/>
              </a:rPr>
              <a:t>Flood-risk redistribution, climate exposure, and equity are scored pre-construction — not discovered on opening day.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6455664"/>
            <a:ext cx="11338560" cy="1371600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6583680"/>
            <a:ext cx="82296" cy="1115568"/>
          </a:xfrm>
          <a:prstGeom prst="roundRect">
            <a:avLst>
              <a:gd name="adj" fmla="val 50000"/>
            </a:avLst>
          </a:prstGeom>
          <a:solidFill>
            <a:srgbClr val="F447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51560" y="6656832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Segoe UI Semibold"/>
              </a:rPr>
              <a:t>Equity is a first-class 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7150608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0" i="0">
                <a:solidFill>
                  <a:srgbClr val="EAF1FF"/>
                </a:solidFill>
                <a:latin typeface="Segoe UI"/>
              </a:rPr>
              <a:t>Equity-weighted access and informal-worker displacement are scored, not assumed (SDG 10).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7973568"/>
            <a:ext cx="11338560" cy="1371600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40080" y="8101584"/>
            <a:ext cx="82296" cy="111556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51560" y="8174736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Segoe UI Semibold"/>
              </a:rPr>
              <a:t>A public-trust instrument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8668512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0" i="0">
                <a:solidFill>
                  <a:srgbClr val="EAF1FF"/>
                </a:solidFill>
                <a:latin typeface="Segoe UI"/>
              </a:rPr>
              <a:t>Confidence-anchored, auditable outputs are what data-sparse ASEAN cities need to trust a model.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2161520" y="4937760"/>
            <a:ext cx="5486400" cy="4078224"/>
          </a:xfrm>
          <a:prstGeom prst="roundRect">
            <a:avLst>
              <a:gd name="adj" fmla="val 5000"/>
            </a:avLst>
          </a:prstGeom>
          <a:solidFill>
            <a:srgbClr val="081A45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2527280" y="51663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9DB2DA"/>
                </a:solidFill>
                <a:latin typeface="Segoe UI Semibold"/>
              </a:rPr>
              <a:t>REGIONAL ANCHOR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527280" y="5669280"/>
            <a:ext cx="484632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38BDF8"/>
                </a:solidFill>
                <a:latin typeface="Segoe UI Semibold"/>
              </a:rPr>
              <a:t>Iloilo City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1" i="0">
                <a:solidFill>
                  <a:srgbClr val="FFFFFF"/>
                </a:solidFill>
                <a:latin typeface="Segoe UI Semibold"/>
              </a:rPr>
              <a:t>2026 ASEAN Clean Tourist City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EAF1FF"/>
                </a:solidFill>
                <a:latin typeface="Segoe UI"/>
              </a:rPr>
              <a:t>Aligns with the ASEAN Smart Cities Network and the AAIH 2026 sustainability theme. A representative suburban-metro testbed — not a special case.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43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aai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"/>
            <a:ext cx="1319538" cy="658368"/>
          </a:xfrm>
          <a:prstGeom prst="rect">
            <a:avLst/>
          </a:prstGeom>
        </p:spPr>
      </p:pic>
      <p:pic>
        <p:nvPicPr>
          <p:cNvPr id="5" name="Picture 4" descr="logo_p2a_as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6048" y="182880"/>
            <a:ext cx="1257723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188720"/>
            <a:ext cx="1700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38BDF8"/>
                </a:solidFill>
                <a:latin typeface="Segoe UI Semibold"/>
              </a:rPr>
              <a:t>FUTURE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17904"/>
            <a:ext cx="17007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Segoe UI Semibold"/>
              </a:rPr>
              <a:t>After the hackathon: from prototype to pilot.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09270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7E93BE"/>
                </a:solidFill>
                <a:latin typeface="Segoe UI"/>
              </a:rPr>
              <a:t>MATRIX  ·  Pre-Construction Infrastructure Impact Simulator  ·  Team ATLAN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0" y="1092708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9DB2DA"/>
                </a:solidFill>
                <a:latin typeface="Consolas"/>
              </a:rPr>
              <a:t>14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017520"/>
            <a:ext cx="64008" cy="6126480"/>
          </a:xfrm>
          <a:prstGeom prst="rect">
            <a:avLst/>
          </a:prstGeom>
          <a:solidFill>
            <a:srgbClr val="2C5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8680" y="2953512"/>
            <a:ext cx="502920" cy="502920"/>
          </a:xfrm>
          <a:prstGeom prst="ellipse">
            <a:avLst/>
          </a:prstGeom>
          <a:solidFill>
            <a:srgbClr val="38BDF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737360" y="2788920"/>
            <a:ext cx="15910559" cy="1517904"/>
          </a:xfrm>
          <a:prstGeom prst="roundRect">
            <a:avLst>
              <a:gd name="adj" fmla="val 4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737360" y="2916936"/>
            <a:ext cx="82296" cy="1261872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148840" y="3026663"/>
            <a:ext cx="1527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 Semibold"/>
              </a:rPr>
              <a:t>NOW — close the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557015"/>
            <a:ext cx="15270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0" i="0">
                <a:solidFill>
                  <a:srgbClr val="EAF1FF"/>
                </a:solidFill>
                <a:latin typeface="Segoe UI"/>
              </a:rPr>
              <a:t>Calibrate mode-share → publish the VAL-01 RMSE · replace the provisional flood fixture → publish VAL-02 IoU · drive the cold run under 90 s (libsumo / headless).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4709159"/>
            <a:ext cx="502920" cy="502920"/>
          </a:xfrm>
          <a:prstGeom prst="ellipse">
            <a:avLst/>
          </a:prstGeom>
          <a:solidFill>
            <a:srgbClr val="3B82F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737360" y="4544568"/>
            <a:ext cx="15910559" cy="1517904"/>
          </a:xfrm>
          <a:prstGeom prst="roundRect">
            <a:avLst>
              <a:gd name="adj" fmla="val 4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737360" y="4672583"/>
            <a:ext cx="82296" cy="126187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148840" y="4782312"/>
            <a:ext cx="1527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 Semibold"/>
              </a:rPr>
              <a:t>NEXT — deepen the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5312664"/>
            <a:ext cx="15270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0" i="0">
                <a:solidFill>
                  <a:srgbClr val="EAF1FF"/>
                </a:solidFill>
                <a:latin typeface="Segoe UI"/>
              </a:rPr>
              <a:t>Bias auditor: flag → reweight · Hiligaynon gazetteer (colloquial place-name → GIS node) · CPDO feedback loop (PRD-F20) · RAG ingestion pipeline.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6464807"/>
            <a:ext cx="502920" cy="502920"/>
          </a:xfrm>
          <a:prstGeom prst="ellipse">
            <a:avLst/>
          </a:prstGeom>
          <a:solidFill>
            <a:srgbClr val="22C55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737360" y="6300216"/>
            <a:ext cx="15910559" cy="1517904"/>
          </a:xfrm>
          <a:prstGeom prst="roundRect">
            <a:avLst>
              <a:gd name="adj" fmla="val 4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737360" y="6428231"/>
            <a:ext cx="82296" cy="1261872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148840" y="6537959"/>
            <a:ext cx="1527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 Semibold"/>
              </a:rPr>
              <a:t>PILOT — prove it in Iloilo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7068312"/>
            <a:ext cx="15270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0" i="0">
                <a:solidFill>
                  <a:srgbClr val="EAF1FF"/>
                </a:solidFill>
                <a:latin typeface="Segoe UI"/>
              </a:rPr>
              <a:t>One real CPDO planner validates the demo → LGU + academic partnerships (Clean Air Asia, UP Visayas SURP) → a signed pilot scenario.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" y="8220455"/>
            <a:ext cx="502920" cy="502920"/>
          </a:xfrm>
          <a:prstGeom prst="ellipse">
            <a:avLst/>
          </a:prstGeom>
          <a:solidFill>
            <a:srgbClr val="F59E0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737360" y="8055863"/>
            <a:ext cx="15910559" cy="1517904"/>
          </a:xfrm>
          <a:prstGeom prst="roundRect">
            <a:avLst>
              <a:gd name="adj" fmla="val 4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1737360" y="8183879"/>
            <a:ext cx="82296" cy="126187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148840" y="8293607"/>
            <a:ext cx="1527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 Semibold"/>
              </a:rPr>
              <a:t>PRODUCT — sustain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8823959"/>
            <a:ext cx="15270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0" i="0">
                <a:solidFill>
                  <a:srgbClr val="EAF1FF"/>
                </a:solidFill>
                <a:latin typeface="Segoe UI"/>
              </a:rPr>
              <a:t>Public-good free tier for LGUs &amp; academia; a paid private-developer / SaaS tier later. Deliberately TBD — adoption and credibility first.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43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aai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"/>
            <a:ext cx="1319538" cy="658368"/>
          </a:xfrm>
          <a:prstGeom prst="rect">
            <a:avLst/>
          </a:prstGeom>
        </p:spPr>
      </p:pic>
      <p:pic>
        <p:nvPicPr>
          <p:cNvPr id="5" name="Picture 4" descr="logo_p2a_as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6048" y="182880"/>
            <a:ext cx="1257723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25880"/>
            <a:ext cx="1700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38BDF8"/>
                </a:solidFill>
                <a:latin typeface="Segoe UI Semibold"/>
              </a:rPr>
              <a:t>TEAM ATLAN  ·  POLYTECHNIC UNIVERSITY OF THE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7007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egoe UI Semibold"/>
              </a:rPr>
              <a:t>The people behind MATRIX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3182112" cy="4114800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545336" y="3246120"/>
            <a:ext cx="1371600" cy="1371600"/>
          </a:xfrm>
          <a:prstGeom prst="ellipse">
            <a:avLst/>
          </a:prstGeom>
          <a:solidFill>
            <a:srgbClr val="3B82F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Segoe UI Semibold"/>
              </a:rPr>
              <a:t>CJ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16736" y="481888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100" b="1">
                <a:solidFill>
                  <a:srgbClr val="06163A"/>
                </a:solidFill>
                <a:latin typeface="Segoe UI Semibold"/>
              </a:rPr>
              <a:t>TEAM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349240"/>
            <a:ext cx="267004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 Semibold"/>
              </a:rPr>
              <a:t>Carlos Jerico Dela Torre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6190488"/>
            <a:ext cx="2670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9DB2DA"/>
                </a:solidFill>
                <a:latin typeface="Segoe UI"/>
              </a:rPr>
              <a:t>AI &amp; Software Dev · Product &amp; Business Architecture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96511" y="2880360"/>
            <a:ext cx="3182112" cy="4114800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001768" y="3246120"/>
            <a:ext cx="1371600" cy="1371600"/>
          </a:xfrm>
          <a:prstGeom prst="ellipse">
            <a:avLst/>
          </a:prstGeom>
          <a:solidFill>
            <a:srgbClr val="38BDF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Segoe UI Semibold"/>
              </a:rPr>
              <a:t>YM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73168" y="481888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100" b="1">
                <a:solidFill>
                  <a:srgbClr val="06163A"/>
                </a:solidFill>
                <a:latin typeface="Segoe UI Semibold"/>
              </a:rPr>
              <a:t>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2544" y="5349240"/>
            <a:ext cx="267004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 Semibold"/>
              </a:rPr>
              <a:t>Yushin Bjorn Matsuda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52544" y="6190488"/>
            <a:ext cx="2670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9DB2DA"/>
                </a:solidFill>
                <a:latin typeface="Segoe UI"/>
              </a:rPr>
              <a:t>AI &amp; Software Development · UI/UX Design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52944" y="2880360"/>
            <a:ext cx="3182112" cy="4114800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458200" y="3246120"/>
            <a:ext cx="1371600" cy="1371600"/>
          </a:xfrm>
          <a:prstGeom prst="ellipse">
            <a:avLst/>
          </a:prstGeom>
          <a:solidFill>
            <a:srgbClr val="22C55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Segoe UI Semibold"/>
              </a:rPr>
              <a:t>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81888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100" b="1">
                <a:solidFill>
                  <a:srgbClr val="06163A"/>
                </a:solidFill>
                <a:latin typeface="Segoe UI Semibold"/>
              </a:rPr>
              <a:t>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08975" y="5349240"/>
            <a:ext cx="267004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 Semibold"/>
              </a:rPr>
              <a:t>Maria Espina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08975" y="6190488"/>
            <a:ext cx="2670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9DB2DA"/>
                </a:solidFill>
                <a:latin typeface="Segoe UI"/>
              </a:rPr>
              <a:t>QA · UI/UX Design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009376" y="2880360"/>
            <a:ext cx="3182112" cy="4114800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1914632" y="3246120"/>
            <a:ext cx="1371600" cy="1371600"/>
          </a:xfrm>
          <a:prstGeom prst="ellipse">
            <a:avLst/>
          </a:prstGeom>
          <a:solidFill>
            <a:srgbClr val="F59E0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Segoe UI Semibold"/>
              </a:rPr>
              <a:t>RM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686032" y="481888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100" b="1">
                <a:solidFill>
                  <a:srgbClr val="06163A"/>
                </a:solidFill>
                <a:latin typeface="Segoe UI Semibold"/>
              </a:rPr>
              <a:t>RESEARCH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65407" y="5349240"/>
            <a:ext cx="267004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 Semibold"/>
              </a:rPr>
              <a:t>Rica Mae Mago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65407" y="6190488"/>
            <a:ext cx="2670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9DB2DA"/>
                </a:solidFill>
                <a:latin typeface="Segoe UI"/>
              </a:rPr>
              <a:t>QA · Research &amp; Marketing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465807" y="2880360"/>
            <a:ext cx="3182112" cy="4114800"/>
          </a:xfrm>
          <a:prstGeom prst="roundRect">
            <a:avLst>
              <a:gd name="adj" fmla="val 5000"/>
            </a:avLst>
          </a:prstGeom>
          <a:solidFill>
            <a:srgbClr val="0B1E4D"/>
          </a:solidFill>
          <a:ln w="12700">
            <a:solidFill>
              <a:srgbClr val="2C5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5371063" y="3246120"/>
            <a:ext cx="1371600" cy="1371600"/>
          </a:xfrm>
          <a:prstGeom prst="ellipse">
            <a:avLst/>
          </a:prstGeom>
          <a:solidFill>
            <a:srgbClr val="8B5CF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Segoe UI Semibold"/>
              </a:rPr>
              <a:t>RF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142463" y="481888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36576" rIns="36576" bIns="36576" rtlCol="0" anchor="ctr"/>
          <a:lstStyle/>
          <a:p>
            <a:pPr algn="ctr"/>
            <a:r>
              <a:rPr sz="1100" b="1">
                <a:solidFill>
                  <a:srgbClr val="06163A"/>
                </a:solidFill>
                <a:latin typeface="Segoe UI Semibold"/>
              </a:rPr>
              <a:t>RESEARCH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721839" y="5349240"/>
            <a:ext cx="267004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 Semibold"/>
              </a:rPr>
              <a:t>Russell Jay Fajardo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721839" y="6190488"/>
            <a:ext cx="2670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9DB2DA"/>
                </a:solidFill>
                <a:latin typeface="Segoe UI"/>
              </a:rPr>
              <a:t>QA · Research &amp; Marketing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7406640"/>
            <a:ext cx="17007840" cy="1371600"/>
          </a:xfrm>
          <a:prstGeom prst="roundRect">
            <a:avLst>
              <a:gd name="adj" fmla="val 6000"/>
            </a:avLst>
          </a:prstGeom>
          <a:solidFill>
            <a:srgbClr val="081A45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4400" y="7607808"/>
            <a:ext cx="1645920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38BDF8"/>
                </a:solidFill>
                <a:latin typeface="Segoe UI Semibold"/>
              </a:rPr>
              <a:t>Contact:  </a:t>
            </a:r>
            <a:r>
              <a:rPr sz="1700" b="0" i="0">
                <a:solidFill>
                  <a:srgbClr val="FFFFFF"/>
                </a:solidFill>
                <a:latin typeface="Segoe UI"/>
              </a:rPr>
              <a:t>Carlos Jerico Dela Torre   ·   carlosjericodelatorre@gmail.com   ·   +63 949 636 9705</a:t>
            </a:r>
          </a:p>
          <a:p>
            <a:pPr algn="ctr"/>
            <a:r>
              <a:rPr sz="1700" b="1" i="0">
                <a:solidFill>
                  <a:srgbClr val="38BDF8"/>
                </a:solidFill>
                <a:latin typeface="Segoe UI Semibold"/>
              </a:rPr>
              <a:t>MATRIX — decide before you build.</a:t>
            </a:r>
          </a:p>
        </p:txBody>
      </p:sp>
      <p:pic>
        <p:nvPicPr>
          <p:cNvPr id="35" name="Picture 34" descr="logo_word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10698480"/>
            <a:ext cx="2340434" cy="3840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2407</Words>
  <Application>Microsoft Office PowerPoint</Application>
  <PresentationFormat>Custom</PresentationFormat>
  <Paragraphs>332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Carlos Jerico Dela Torre</cp:lastModifiedBy>
  <cp:revision>2</cp:revision>
  <dcterms:created xsi:type="dcterms:W3CDTF">2013-01-27T09:14:16Z</dcterms:created>
  <dcterms:modified xsi:type="dcterms:W3CDTF">2026-06-19T11:03:44Z</dcterms:modified>
  <cp:category/>
</cp:coreProperties>
</file>