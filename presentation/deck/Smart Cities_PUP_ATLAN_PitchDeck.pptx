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13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233172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A1E5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500" b="1">
                <a:solidFill>
                  <a:srgbClr val="38BDF8"/>
                </a:solidFill>
                <a:latin typeface="Segoe UI Semibold"/>
              </a:rPr>
              <a:t>SMART CITIES  ·  ASEAN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645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Segoe UI Semibold"/>
              </a:rPr>
              <a:t>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645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>
                <a:solidFill>
                  <a:srgbClr val="EAF1FF"/>
                </a:solidFill>
                <a:latin typeface="Segoe UI"/>
              </a:rPr>
              <a:t>Multi-Agent Twin for Routing &amp; Infrastructure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645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0" i="0">
                <a:solidFill>
                  <a:srgbClr val="9DB2DA"/>
                </a:solidFill>
                <a:latin typeface="Segoe UI"/>
              </a:rPr>
              <a:t>See a project’s full impact </a:t>
            </a:r>
            <a:r>
              <a:rPr sz="2500" b="1" i="0">
                <a:solidFill>
                  <a:srgbClr val="38BDF8"/>
                </a:solidFill>
                <a:latin typeface="Segoe UI Semibold"/>
              </a:rPr>
              <a:t>before you build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7772400"/>
            <a:ext cx="9875520" cy="1371600"/>
          </a:xfrm>
          <a:prstGeom prst="roundRect">
            <a:avLst>
              <a:gd name="adj" fmla="val 10000"/>
            </a:avLst>
          </a:prstGeom>
          <a:solidFill>
            <a:srgbClr val="081A45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797356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Team ATLAN</a:t>
            </a:r>
            <a:r>
              <a:rPr sz="1800" b="0" i="0">
                <a:solidFill>
                  <a:srgbClr val="EAF1FF"/>
                </a:solidFill>
                <a:latin typeface="Segoe UI"/>
              </a:rPr>
              <a:t>   ·   Polytechnic University of the Philippines</a:t>
            </a:r>
          </a:p>
          <a:p>
            <a:pPr algn="ctr"/>
            <a:r>
              <a:rPr sz="1500" b="0" i="0">
                <a:solidFill>
                  <a:srgbClr val="9DB2DA"/>
                </a:solidFill>
                <a:latin typeface="Segoe UI"/>
              </a:rPr>
              <a:t>Smart Cities Track    ·    Pilot City: Iloilo City, Philippines</a:t>
            </a:r>
          </a:p>
        </p:txBody>
      </p:sp>
      <p:pic>
        <p:nvPicPr>
          <p:cNvPr id="12" name="Picture 11" descr="logo_wor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0744200"/>
            <a:ext cx="2340434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THE ASEAN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Cities are building faster than they can foresee.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0" i="0">
                <a:solidFill>
                  <a:srgbClr val="EAF1FF"/>
                </a:solidFill>
                <a:latin typeface="Segoe UI"/>
              </a:rPr>
              <a:t>ASEAN is going through its largest urban build-out in history, yet infrastructure is still approved using static feasibility studies that age the day they are filed. The real damage only shows up on opening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385816" cy="278892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785615"/>
            <a:ext cx="82296" cy="253288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4700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 Semibold"/>
              </a:rPr>
              <a:t>Studies age on 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36592"/>
            <a:ext cx="470001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EAF1FF"/>
                </a:solidFill>
                <a:latin typeface="Segoe UI"/>
              </a:rPr>
              <a:t>A 2022 traffic count cannot predict how a 2026 development reshapes a corridor, a jeepney route, or a flood path.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657600"/>
            <a:ext cx="5385816" cy="278892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46520" y="3785615"/>
            <a:ext cx="82296" cy="2532887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3950208"/>
            <a:ext cx="4700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 Semibold"/>
              </a:rPr>
              <a:t>Impacts judged in silos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736592"/>
            <a:ext cx="470001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EAF1FF"/>
                </a:solidFill>
                <a:latin typeface="Segoe UI"/>
              </a:rPr>
              <a:t>Environment, transport, economy, and equity are each reviewed in a different office — they meet only after the project is approved.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52959" y="3657600"/>
            <a:ext cx="5385816" cy="278892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2252959" y="3785615"/>
            <a:ext cx="82296" cy="2532887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664439" y="3950208"/>
            <a:ext cx="47000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 Semibold"/>
              </a:rPr>
              <a:t>Tools need specialists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4439" y="4736592"/>
            <a:ext cx="470001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EAF1FF"/>
                </a:solidFill>
                <a:latin typeface="Segoe UI"/>
              </a:rPr>
              <a:t>Vissim, Aimsun, CityEngine, Replica — powerful, but none takes a planner’s plain-language question and answers across domains.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812280"/>
            <a:ext cx="17007840" cy="1417320"/>
          </a:xfrm>
          <a:prstGeom prst="roundRect">
            <a:avLst>
              <a:gd name="adj" fmla="val 6000"/>
            </a:avLst>
          </a:prstGeom>
          <a:solidFill>
            <a:srgbClr val="2A0E1E"/>
          </a:solidFill>
          <a:ln w="12700">
            <a:solidFill>
              <a:srgbClr val="7A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6940296"/>
            <a:ext cx="82296" cy="1161288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7004304"/>
            <a:ext cx="1636775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 i="0">
                <a:solidFill>
                  <a:srgbClr val="F4476A"/>
                </a:solidFill>
                <a:latin typeface="Segoe UI Semibold"/>
              </a:rPr>
              <a:t>Who pays for the blind spot:  </a:t>
            </a:r>
            <a:r>
              <a:rPr sz="1600" b="0" i="0">
                <a:solidFill>
                  <a:srgbClr val="EAF1FF"/>
                </a:solidFill>
                <a:latin typeface="Segoe UI"/>
              </a:rPr>
              <a:t>the commuter who loses up to a third of their fare to unmodeled first-mile travel  ·  the informal vendor who gets paved over without a displacement plan  ·  the barangay that floods because runoff was calculated in isolation.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8458200"/>
            <a:ext cx="1700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7E93BE"/>
                </a:solidFill>
                <a:latin typeface="Segoe UI"/>
              </a:rPr>
              <a:t>Illustrative of a documented pattern (Montalbo, UP SURP; JICA 2014/2019; ICLEI Iloilo Roadmap), shown as a general trend rather than cited point statistics.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THE AI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Drop a project on your city. See five futures in 90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0" i="0">
                <a:solidFill>
                  <a:srgbClr val="EAF1FF"/>
                </a:solidFill>
                <a:latin typeface="Segoe UI"/>
              </a:rPr>
              <a:t>A planner asks in plain language, </a:t>
            </a:r>
            <a:r>
              <a:rPr sz="1750" b="1" i="0">
                <a:solidFill>
                  <a:srgbClr val="38BDF8"/>
                </a:solidFill>
                <a:latin typeface="Segoe UI Semibold"/>
              </a:rPr>
              <a:t>“what happens if we build an 8-storey mixed-use here?”</a:t>
            </a:r>
            <a:r>
              <a:rPr sz="1750" b="0" i="0">
                <a:solidFill>
                  <a:srgbClr val="EAF1FF"/>
                </a:solidFill>
                <a:latin typeface="Segoe UI"/>
              </a:rPr>
              <a:t> or simply drops a pin. A single unified kernel simulates thousands of agents while five impact modules score the same reality. The map animates, and a cited narrative explains the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2944368" cy="1417320"/>
          </a:xfrm>
          <a:prstGeom prst="roundRect">
            <a:avLst>
              <a:gd name="adj" fmla="val 7000"/>
            </a:avLst>
          </a:prstGeom>
          <a:solidFill>
            <a:srgbClr val="0E2456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257860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Plain-language
query / map drop</a:t>
            </a:r>
          </a:p>
        </p:txBody>
      </p:sp>
      <p:sp>
        <p:nvSpPr>
          <p:cNvPr id="13" name="Chevron 12"/>
          <p:cNvSpPr/>
          <p:nvPr/>
        </p:nvSpPr>
        <p:spPr>
          <a:xfrm>
            <a:off x="3648456" y="4343400"/>
            <a:ext cx="438912" cy="41148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51376" y="3840480"/>
            <a:ext cx="2944368" cy="1417320"/>
          </a:xfrm>
          <a:prstGeom prst="roundRect">
            <a:avLst>
              <a:gd name="adj" fmla="val 7000"/>
            </a:avLst>
          </a:prstGeom>
          <a:solidFill>
            <a:srgbClr val="0E2456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34256" y="4023360"/>
            <a:ext cx="257860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Azure OpenAI orchestrator
parses the scenario</a:t>
            </a:r>
          </a:p>
        </p:txBody>
      </p:sp>
      <p:sp>
        <p:nvSpPr>
          <p:cNvPr id="16" name="Chevron 15"/>
          <p:cNvSpPr/>
          <p:nvPr/>
        </p:nvSpPr>
        <p:spPr>
          <a:xfrm>
            <a:off x="7159752" y="4343400"/>
            <a:ext cx="438912" cy="41148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62672" y="3840480"/>
            <a:ext cx="2944368" cy="1417320"/>
          </a:xfrm>
          <a:prstGeom prst="roundRect">
            <a:avLst>
              <a:gd name="adj" fmla="val 7000"/>
            </a:avLst>
          </a:prstGeom>
          <a:solidFill>
            <a:srgbClr val="0E2456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5552" y="4023360"/>
            <a:ext cx="257860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Unified kernel
SUMO + AI personas</a:t>
            </a:r>
          </a:p>
        </p:txBody>
      </p:sp>
      <p:sp>
        <p:nvSpPr>
          <p:cNvPr id="19" name="Chevron 18"/>
          <p:cNvSpPr/>
          <p:nvPr/>
        </p:nvSpPr>
        <p:spPr>
          <a:xfrm>
            <a:off x="10671048" y="4343400"/>
            <a:ext cx="438912" cy="41148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840480"/>
            <a:ext cx="2944368" cy="1417320"/>
          </a:xfrm>
          <a:prstGeom prst="roundRect">
            <a:avLst>
              <a:gd name="adj" fmla="val 7000"/>
            </a:avLst>
          </a:prstGeom>
          <a:solidFill>
            <a:srgbClr val="0E2456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56848" y="4023360"/>
            <a:ext cx="257860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Five impact modules
score one reality</a:t>
            </a:r>
          </a:p>
        </p:txBody>
      </p:sp>
      <p:sp>
        <p:nvSpPr>
          <p:cNvPr id="22" name="Chevron 21"/>
          <p:cNvSpPr/>
          <p:nvPr/>
        </p:nvSpPr>
        <p:spPr>
          <a:xfrm>
            <a:off x="14182344" y="4343400"/>
            <a:ext cx="438912" cy="41148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4685264" y="3840480"/>
            <a:ext cx="2944368" cy="1417320"/>
          </a:xfrm>
          <a:prstGeom prst="roundRect">
            <a:avLst>
              <a:gd name="adj" fmla="val 7000"/>
            </a:avLst>
          </a:prstGeom>
          <a:solidFill>
            <a:srgbClr val="0E2456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868144" y="4023360"/>
            <a:ext cx="257860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Animated map +
cited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1700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9DB2DA"/>
                </a:solidFill>
                <a:latin typeface="Segoe UI Semibold"/>
              </a:rPr>
              <a:t>ONE SIMULATED REALITY, SCORED FIVE WAYS WITH EXPLICIT CONFIDENCE LEVELS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355080"/>
            <a:ext cx="3182112" cy="1051560"/>
          </a:xfrm>
          <a:prstGeom prst="roundRect">
            <a:avLst>
              <a:gd name="adj" fmla="val 10000"/>
            </a:avLst>
          </a:prstGeom>
          <a:solidFill>
            <a:srgbClr val="0B1E4D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6483096"/>
            <a:ext cx="82296" cy="795527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19" y="6537960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Behavioral</a:t>
            </a:r>
          </a:p>
          <a:p>
            <a:pPr algn="l"/>
            <a:r>
              <a:rPr sz="1150" b="0" i="0">
                <a:solidFill>
                  <a:srgbClr val="9DB2DA"/>
                </a:solidFill>
                <a:latin typeface="Segoe UI"/>
              </a:rPr>
              <a:t>Impact dimension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96511" y="6355080"/>
            <a:ext cx="3182112" cy="1051560"/>
          </a:xfrm>
          <a:prstGeom prst="roundRect">
            <a:avLst>
              <a:gd name="adj" fmla="val 10000"/>
            </a:avLst>
          </a:prstGeom>
          <a:solidFill>
            <a:srgbClr val="0B1E4D"/>
          </a:solidFill>
          <a:ln w="19050">
            <a:solidFill>
              <a:srgbClr val="F44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096511" y="6483096"/>
            <a:ext cx="82296" cy="795527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16551" y="6537960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Social</a:t>
            </a:r>
          </a:p>
          <a:p>
            <a:pPr algn="l"/>
            <a:r>
              <a:rPr sz="1150" b="0" i="0">
                <a:solidFill>
                  <a:srgbClr val="9DB2DA"/>
                </a:solidFill>
                <a:latin typeface="Segoe UI"/>
              </a:rPr>
              <a:t>Impact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6355080"/>
            <a:ext cx="3182112" cy="1051560"/>
          </a:xfrm>
          <a:prstGeom prst="roundRect">
            <a:avLst>
              <a:gd name="adj" fmla="val 10000"/>
            </a:avLst>
          </a:prstGeom>
          <a:solidFill>
            <a:srgbClr val="0B1E4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552944" y="6483096"/>
            <a:ext cx="82296" cy="79552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6537960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Economic</a:t>
            </a:r>
          </a:p>
          <a:p>
            <a:pPr algn="l"/>
            <a:r>
              <a:rPr sz="1150" b="0" i="0">
                <a:solidFill>
                  <a:srgbClr val="9DB2DA"/>
                </a:solidFill>
                <a:latin typeface="Segoe UI"/>
              </a:rPr>
              <a:t>Impact dimension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09376" y="6355080"/>
            <a:ext cx="3182112" cy="1051560"/>
          </a:xfrm>
          <a:prstGeom prst="roundRect">
            <a:avLst>
              <a:gd name="adj" fmla="val 10000"/>
            </a:avLst>
          </a:prstGeom>
          <a:solidFill>
            <a:srgbClr val="0B1E4D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1009376" y="6483096"/>
            <a:ext cx="82296" cy="795527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329415" y="6537960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Ecological</a:t>
            </a:r>
          </a:p>
          <a:p>
            <a:pPr algn="l"/>
            <a:r>
              <a:rPr sz="1150" b="0" i="0">
                <a:solidFill>
                  <a:srgbClr val="9DB2DA"/>
                </a:solidFill>
                <a:latin typeface="Segoe UI"/>
              </a:rPr>
              <a:t>Impact dimension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465807" y="6355080"/>
            <a:ext cx="3182112" cy="1051560"/>
          </a:xfrm>
          <a:prstGeom prst="roundRect">
            <a:avLst>
              <a:gd name="adj" fmla="val 10000"/>
            </a:avLst>
          </a:prstGeom>
          <a:solidFill>
            <a:srgbClr val="0B1E4D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4465807" y="6483096"/>
            <a:ext cx="82296" cy="79552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785847" y="6537960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Societal</a:t>
            </a:r>
          </a:p>
          <a:p>
            <a:pPr algn="l"/>
            <a:r>
              <a:rPr sz="1150" b="0" i="0">
                <a:solidFill>
                  <a:srgbClr val="9DB2DA"/>
                </a:solidFill>
                <a:latin typeface="Segoe UI"/>
              </a:rPr>
              <a:t>Impact dimension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7818120"/>
            <a:ext cx="17007840" cy="868680"/>
          </a:xfrm>
          <a:prstGeom prst="roundRect">
            <a:avLst>
              <a:gd name="adj" fmla="val 8000"/>
            </a:avLst>
          </a:prstGeom>
          <a:solidFill>
            <a:srgbClr val="081A45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7955279"/>
            <a:ext cx="1645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9DB2DA"/>
                </a:solidFill>
                <a:latin typeface="Segoe UI"/>
              </a:rPr>
              <a:t>From  </a:t>
            </a:r>
            <a:r>
              <a:rPr sz="1700" b="1" i="0">
                <a:solidFill>
                  <a:srgbClr val="FFFFFF"/>
                </a:solidFill>
                <a:latin typeface="Segoe UI Semibold"/>
              </a:rPr>
              <a:t>“is this allowed?”</a:t>
            </a:r>
            <a:r>
              <a:rPr sz="1700" b="0" i="0">
                <a:solidFill>
                  <a:srgbClr val="9DB2DA"/>
                </a:solidFill>
                <a:latin typeface="Segoe UI"/>
              </a:rPr>
              <a:t>  to  </a:t>
            </a:r>
            <a:r>
              <a:rPr sz="1700" b="1" i="0">
                <a:solidFill>
                  <a:srgbClr val="38BDF8"/>
                </a:solidFill>
                <a:latin typeface="Segoe UI Semibold"/>
              </a:rPr>
              <a:t>“what will this actually do?”</a:t>
            </a:r>
            <a:r>
              <a:rPr sz="1600" b="0" i="0">
                <a:solidFill>
                  <a:srgbClr val="EAF1FF"/>
                </a:solidFill>
                <a:latin typeface="Segoe UI"/>
              </a:rPr>
              <a:t>   No specialist. No modeling background. Ranges, not false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The combination no existing tool offers.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3108960" cy="713232"/>
          </a:xfrm>
          <a:prstGeom prst="rect">
            <a:avLst/>
          </a:prstGeom>
          <a:solidFill>
            <a:srgbClr val="3B82F6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606040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 Semibold"/>
              </a:rPr>
              <a:t>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606040"/>
            <a:ext cx="2057400" cy="713232"/>
          </a:xfrm>
          <a:prstGeom prst="rect">
            <a:avLst/>
          </a:prstGeom>
          <a:solidFill>
            <a:srgbClr val="3B82F6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768" y="2606040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Plain-language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606040"/>
            <a:ext cx="2057400" cy="713232"/>
          </a:xfrm>
          <a:prstGeom prst="rect">
            <a:avLst/>
          </a:prstGeom>
          <a:solidFill>
            <a:srgbClr val="3B82F6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16168" y="2606040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5 dimensions, one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606040"/>
            <a:ext cx="2194560" cy="713232"/>
          </a:xfrm>
          <a:prstGeom prst="rect">
            <a:avLst/>
          </a:prstGeom>
          <a:solidFill>
            <a:srgbClr val="3B82F6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7" y="2606040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Per-dimension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606040"/>
            <a:ext cx="1920240" cy="713232"/>
          </a:xfrm>
          <a:prstGeom prst="rect">
            <a:avLst/>
          </a:prstGeom>
          <a:solidFill>
            <a:srgbClr val="3B82F6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68128" y="2606040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No specialist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9272"/>
            <a:ext cx="31089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3319272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PTV Vissim / Aimsun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319272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58768" y="3319272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3319272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16168" y="3319272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319272"/>
            <a:ext cx="21945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73567" y="3319272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319272"/>
            <a:ext cx="192024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68128" y="3319272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32504"/>
            <a:ext cx="31089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4032504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ESRI CityEngine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4032504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58768" y="4032504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4032504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16168" y="4032504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032504"/>
            <a:ext cx="21945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73567" y="4032504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4032504"/>
            <a:ext cx="192024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68128" y="4032504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745736"/>
            <a:ext cx="31089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59" y="4745736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Replica / UrbanFootprint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4745736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58768" y="4745736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4745736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16168" y="4745736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A524"/>
                </a:solidFill>
                <a:latin typeface="Segoe UI Semibold"/>
              </a:rPr>
              <a:t>~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745736"/>
            <a:ext cx="21945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73567" y="4745736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4745736"/>
            <a:ext cx="192024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68128" y="4745736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A524"/>
                </a:solidFill>
                <a:latin typeface="Segoe UI Semibold"/>
              </a:rPr>
              <a:t>~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458968"/>
            <a:ext cx="31089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59" y="5458968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AnyLogic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5458968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58768" y="5458968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6440" y="5458968"/>
            <a:ext cx="205740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16168" y="5458968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A524"/>
                </a:solidFill>
                <a:latin typeface="Segoe UI Semibold"/>
              </a:rPr>
              <a:t>~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5458968"/>
            <a:ext cx="219456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73567" y="5458968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5458968"/>
            <a:ext cx="1920240" cy="713232"/>
          </a:xfrm>
          <a:prstGeom prst="rect">
            <a:avLst/>
          </a:prstGeom>
          <a:solidFill>
            <a:srgbClr val="0B1E4D"/>
          </a:solidFill>
          <a:ln w="9525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68128" y="5458968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93BE"/>
                </a:solidFill>
                <a:latin typeface="Segoe UI Semibold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6172200"/>
            <a:ext cx="3108960" cy="713232"/>
          </a:xfrm>
          <a:prstGeom prst="rect">
            <a:avLst/>
          </a:prstGeom>
          <a:solidFill>
            <a:srgbClr val="10336F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959" y="6172200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 Semibold"/>
              </a:rPr>
              <a:t>MATRIX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39" y="6172200"/>
            <a:ext cx="2057400" cy="713232"/>
          </a:xfrm>
          <a:prstGeom prst="rect">
            <a:avLst/>
          </a:prstGeom>
          <a:solidFill>
            <a:srgbClr val="10336F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58768" y="6172200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Segoe UI Semibold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6172200"/>
            <a:ext cx="2057400" cy="713232"/>
          </a:xfrm>
          <a:prstGeom prst="rect">
            <a:avLst/>
          </a:prstGeom>
          <a:solidFill>
            <a:srgbClr val="10336F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16168" y="6172200"/>
            <a:ext cx="187451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Segoe UI Semibold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6172200"/>
            <a:ext cx="2194560" cy="713232"/>
          </a:xfrm>
          <a:prstGeom prst="rect">
            <a:avLst/>
          </a:prstGeom>
          <a:solidFill>
            <a:srgbClr val="10336F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973567" y="6172200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Segoe UI Semibold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0" y="6172200"/>
            <a:ext cx="1920240" cy="713232"/>
          </a:xfrm>
          <a:prstGeom prst="rect">
            <a:avLst/>
          </a:prstGeom>
          <a:solidFill>
            <a:srgbClr val="10336F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68128" y="6172200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Segoe UI Semibold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69951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7E93BE"/>
                </a:solidFill>
                <a:latin typeface="Segoe UI"/>
              </a:rPr>
              <a:t>Based on our competitor feature survey (GTM §2.1). This represents a combination of features rather than an unfalsifiable absolute.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344400" y="2606040"/>
            <a:ext cx="5303520" cy="2084831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12344400" y="2734056"/>
            <a:ext cx="82296" cy="182879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2755880" y="2862072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One kernel to five dimensions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755880" y="3520440"/>
            <a:ext cx="4617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AF1FF"/>
                </a:solidFill>
                <a:latin typeface="Segoe UI"/>
              </a:rPr>
              <a:t>All five modules score the exact same simulated reality, meaning they will never contradict each other.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344400" y="4855464"/>
            <a:ext cx="5303520" cy="2084831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2344400" y="4983480"/>
            <a:ext cx="82296" cy="182879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2755880" y="5111496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Glass box by contract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755880" y="5769864"/>
            <a:ext cx="4617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AF1FF"/>
                </a:solidFill>
                <a:latin typeface="Segoe UI"/>
              </a:rPr>
              <a:t>Every single number resolves to its exact equation, datasets, and a computed confidence. The AI narrates the results but never invents a number.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344400" y="7104888"/>
            <a:ext cx="5303520" cy="2084831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2344400" y="7232904"/>
            <a:ext cx="82296" cy="182879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2755880" y="736092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Plain language to 90 seconds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755880" y="8019288"/>
            <a:ext cx="4617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AF1FF"/>
                </a:solidFill>
                <a:latin typeface="Segoe UI"/>
              </a:rPr>
              <a:t>Provide a pin or a sentence and receive a calibrated, confidence-anchored five-dimension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Inputs → AI processing → confidence-anchored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9DB2DA"/>
                </a:solidFill>
                <a:latin typeface="Segoe UI Semibold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 Semibold"/>
              </a:rPr>
              <a:t>AI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0" y="25146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9DB2DA"/>
                </a:solidFill>
                <a:latin typeface="Segoe UI Semibold"/>
              </a:rPr>
              <a:t>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486400" cy="6583680"/>
          </a:xfrm>
          <a:prstGeom prst="roundRect">
            <a:avLst>
              <a:gd name="adj" fmla="val 4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8BDF8"/>
                </a:solidFill>
                <a:latin typeface="Segoe UI Semibold"/>
              </a:rPr>
              <a:t>Scenario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Natural-language query or map pin-drop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25696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8BDF8"/>
                </a:solidFill>
                <a:latin typeface="Segoe UI Semibold"/>
              </a:rPr>
              <a:t>Network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OpenStreetMap roads, jeepney &amp; bike routes, heritage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50992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8BDF8"/>
                </a:solidFill>
                <a:latin typeface="Segoe UI Semibold"/>
              </a:rPr>
              <a:t>People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PSA 2020/2024 census, APIS poverty by barangay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876288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8BDF8"/>
                </a:solidFill>
                <a:latin typeface="Segoe UI Semibold"/>
              </a:rPr>
              <a:t>Environment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Sentinel-2 land cover, PAGASA / NOAH flood hazard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8101583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8BDF8"/>
                </a:solidFill>
                <a:latin typeface="Segoe UI Semibold"/>
              </a:rPr>
              <a:t>Factors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WHO/EMEP emission factors, BIR zonal land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971800"/>
            <a:ext cx="5486400" cy="6583680"/>
          </a:xfrm>
          <a:prstGeom prst="roundRect">
            <a:avLst>
              <a:gd name="adj" fmla="val 4000"/>
            </a:avLst>
          </a:prstGeom>
          <a:solidFill>
            <a:srgbClr val="0E245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0" y="3200400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02C6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Segoe UI Semibold"/>
              </a:rPr>
              <a:t>Azure OpenAI Orchestrator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33832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50" b="1">
                <a:solidFill>
                  <a:srgbClr val="06163A"/>
                </a:solidFill>
                <a:latin typeface="Segoe UI Semibold"/>
              </a:rPr>
              <a:t>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1363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EAF1FF"/>
                </a:solidFill>
                <a:latin typeface="Segoe UI"/>
              </a:rPr>
              <a:t>parse query → simulation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727448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02C6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48920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Segoe UI Semibold"/>
              </a:rPr>
              <a:t>Unified Simulation Kernel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91032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50" b="1">
                <a:solidFill>
                  <a:srgbClr val="06163A"/>
                </a:solidFill>
                <a:latin typeface="Segoe UI Semibold"/>
              </a:rPr>
              <a:t>AGENTIC SIM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44068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EAF1FF"/>
                </a:solidFill>
                <a:latin typeface="Segoe UI"/>
              </a:rPr>
              <a:t>SUMO + persona pool + bias auditor → one trajectory 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6254496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02C6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641908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Segoe UI Semibold"/>
              </a:rPr>
              <a:t>Five Impact Modules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643737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50" b="1">
                <a:solidFill>
                  <a:srgbClr val="06163A"/>
                </a:solidFill>
                <a:latin typeface="Segoe UI Semibold"/>
              </a:rPr>
              <a:t>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696772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EAF1FF"/>
                </a:solidFill>
                <a:latin typeface="Segoe UI"/>
              </a:rPr>
              <a:t>Behavioral · Social · Economic · Ecological · Societal, in parallel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7781544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02C6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78040" y="794613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Segoe UI Semibold"/>
              </a:rPr>
              <a:t>Synthesis + GraphRAG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7964423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050" b="1">
                <a:solidFill>
                  <a:srgbClr val="06163A"/>
                </a:solidFill>
                <a:latin typeface="Segoe UI Semibold"/>
              </a:rPr>
              <a:t>GENAI +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8494776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EAF1FF"/>
                </a:solidFill>
                <a:latin typeface="Segoe UI"/>
              </a:rPr>
              <a:t>cited narrative; retrieval over the city knowledge graph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0" y="2971800"/>
            <a:ext cx="4846320" cy="6583680"/>
          </a:xfrm>
          <a:prstGeom prst="roundRect">
            <a:avLst>
              <a:gd name="adj" fmla="val 4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167360" y="320040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2C55E"/>
                </a:solidFill>
                <a:latin typeface="Segoe UI Semibold"/>
              </a:rPr>
              <a:t>Animated playback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Deck.gl TripsLayer showing agents re-routing in real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67360" y="4718304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B82F6"/>
                </a:solidFill>
                <a:latin typeface="Segoe UI Semibold"/>
              </a:rPr>
              <a:t>Five scored dimensions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Each dimension comes with a High, Medium, or Low confidence band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0" y="6236208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38BDF8"/>
                </a:solidFill>
                <a:latin typeface="Segoe UI Semibold"/>
              </a:rPr>
              <a:t>Glass-box Inspect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Click any number to view its equation, datasets, and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0" y="7754112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4476A"/>
                </a:solidFill>
                <a:latin typeface="Segoe UI Semibold"/>
              </a:rPr>
              <a:t>Exportable report</a:t>
            </a:r>
          </a:p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A structured and easy-to-read recommendation for the planner</a:t>
            </a:r>
          </a:p>
        </p:txBody>
      </p:sp>
      <p:sp>
        <p:nvSpPr>
          <p:cNvPr id="41" name="Chevron 40"/>
          <p:cNvSpPr/>
          <p:nvPr/>
        </p:nvSpPr>
        <p:spPr>
          <a:xfrm>
            <a:off x="6217920" y="5989320"/>
            <a:ext cx="365760" cy="50292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hevron 41"/>
          <p:cNvSpPr/>
          <p:nvPr/>
        </p:nvSpPr>
        <p:spPr>
          <a:xfrm>
            <a:off x="12362688" y="5989320"/>
            <a:ext cx="365760" cy="50292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9692640"/>
            <a:ext cx="1700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9DB2DA"/>
                </a:solidFill>
                <a:latin typeface="Segoe UI"/>
              </a:rPr>
              <a:t>Engineered to a 90-second end-to-end budget: pre-warmed personas, delta simulation against a nightly baseline, parallel modules, and a streaming progressive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AI APPROACH &amp; MODEL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Four AI techniques, each model chosen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06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596896" cy="457200"/>
          </a:xfrm>
          <a:prstGeom prst="roundRect">
            <a:avLst>
              <a:gd name="adj" fmla="val 50000"/>
            </a:avLst>
          </a:prstGeom>
          <a:solidFill>
            <a:srgbClr val="0E245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 Semibold"/>
              </a:rPr>
              <a:t>GENERATIVE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514600"/>
            <a:ext cx="3419856" cy="457200"/>
          </a:xfrm>
          <a:prstGeom prst="roundRect">
            <a:avLst>
              <a:gd name="adj" fmla="val 50000"/>
            </a:avLst>
          </a:prstGeom>
          <a:solidFill>
            <a:srgbClr val="0E245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 Semibold"/>
              </a:rPr>
              <a:t>AGENTIC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5472" y="2514600"/>
            <a:ext cx="3090672" cy="457200"/>
          </a:xfrm>
          <a:prstGeom prst="roundRect">
            <a:avLst>
              <a:gd name="adj" fmla="val 50000"/>
            </a:avLst>
          </a:prstGeom>
          <a:solidFill>
            <a:srgbClr val="0E245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 Semibold"/>
              </a:rPr>
              <a:t>MACHINE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70463" y="2514600"/>
            <a:ext cx="5394959" cy="457200"/>
          </a:xfrm>
          <a:prstGeom prst="roundRect">
            <a:avLst>
              <a:gd name="adj" fmla="val 50000"/>
            </a:avLst>
          </a:prstGeom>
          <a:solidFill>
            <a:srgbClr val="0E245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 Semibold"/>
              </a:rPr>
              <a:t>RETRIEVAL-AUGMENTED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422392" cy="212140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82296" cy="186537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7" y="3483863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Azure OpenAI GPT-5.4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395935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  <a:latin typeface="Segoe UI Semibold"/>
              </a:rPr>
              <a:t>ORCHESTRATION &amp;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4361688"/>
            <a:ext cx="4782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Parses plain language into a simulation plan and writes the cited narrative. We use the current generation since older models are shut down.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3246120"/>
            <a:ext cx="5422392" cy="212140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28232" y="3374136"/>
            <a:ext cx="82296" cy="186537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3483863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Azure OpenAI GPT-5.4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5935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Segoe UI Semibold"/>
              </a:rPr>
              <a:t>HIGH-VOLUME PERSONA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361688"/>
            <a:ext cx="4782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Creates 200 to 500 commuter personas on the free tier, making it cheap and fast enough to pre-warm the pool.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16384" y="3246120"/>
            <a:ext cx="5422392" cy="212140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2216384" y="3374136"/>
            <a:ext cx="82296" cy="186537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600432" y="3483863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Eclipse SUMO (TraCI)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00432" y="395935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Segoe UI Semibold"/>
              </a:rPr>
              <a:t>PHYSICAL MULTI-AGENT MOBILITY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00432" y="4361688"/>
            <a:ext cx="4782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The open urban-mobility standard from DLR. Unlike OASIS or MiroFish, which model social media, SUMO models actual cities.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77840"/>
            <a:ext cx="5422392" cy="212140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705855"/>
            <a:ext cx="82296" cy="186537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7" y="5815583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7" y="629107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Segoe UI Semibold"/>
              </a:rPr>
              <a:t>CORRIDOR-VOLUME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7" y="6693407"/>
            <a:ext cx="4782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A time-series forecaster that generates the nightly baseline for our delta simulations to run against.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8232" y="5577840"/>
            <a:ext cx="5422392" cy="212140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28232" y="5705855"/>
            <a:ext cx="82296" cy="186537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5815583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bge-small-en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629107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8B5CF6"/>
                </a:solidFill>
                <a:latin typeface="Segoe UI Semibold"/>
              </a:rPr>
              <a:t>KNOWLEDGE-GRAPH EMBEDDINGS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6693407"/>
            <a:ext cx="4782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Sentence-Transformers vectors in ChromaDB powering GraphRAG retrieval.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216384" y="5577840"/>
            <a:ext cx="5422392" cy="212140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2216384" y="5705855"/>
            <a:ext cx="82296" cy="1865376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600432" y="5815583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Bias auditor (custom)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00432" y="629107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4476A"/>
                </a:solidFill>
                <a:latin typeface="Segoe UI Semibold"/>
              </a:rPr>
              <a:t>MODE-SHARE ANCHORING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00432" y="6693407"/>
            <a:ext cx="47823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Anchors generated mode-share to ground truth and logs deviations to a public audit.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8183879"/>
            <a:ext cx="17007840" cy="868680"/>
          </a:xfrm>
          <a:prstGeom prst="roundRect">
            <a:avLst>
              <a:gd name="adj" fmla="val 7000"/>
            </a:avLst>
          </a:prstGeom>
          <a:solidFill>
            <a:srgbClr val="081A4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40080" y="8311896"/>
            <a:ext cx="82296" cy="61264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8302752"/>
            <a:ext cx="16276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38BDF8"/>
                </a:solidFill>
                <a:latin typeface="Segoe UI Semibold"/>
              </a:rPr>
              <a:t>The guardrail:  </a:t>
            </a:r>
            <a:r>
              <a:rPr sz="1550" b="0" i="0">
                <a:solidFill>
                  <a:srgbClr val="EAF1FF"/>
                </a:solidFill>
                <a:latin typeface="Segoe UI"/>
              </a:rPr>
              <a:t>the LLM narrates and cites — it never originates a number. One kernel feeds five modules so the dimensions score one reality and cannot contradict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Open-data-first, contact-free, and licence-clean.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07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10607040" cy="14813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734056"/>
            <a:ext cx="82296" cy="122529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8072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22C55E"/>
                </a:solidFill>
                <a:latin typeface="Segoe UI Semibold"/>
              </a:rPr>
              <a:t>TIER 1 · Day-1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82696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OSM Geofabrik (ODbL) · PSA 2020/2024 census · Sentinel-2 (ESA) · PAGASA / Project NOAH flood · WHO/EMEP emission factors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10607040" cy="14813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361688"/>
            <a:ext cx="82296" cy="1225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59E0B"/>
                </a:solidFill>
                <a:latin typeface="Segoe UI Semibold"/>
              </a:rPr>
              <a:t>TIER 2 · Request / FOI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1032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LTFRB Region VI routes · PSA APIS poverty · Iloilo City CLUP 2021-2029 requests filed on Day 1. Open substitutes are used until they arrive.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61304"/>
            <a:ext cx="10607040" cy="14813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989320"/>
            <a:ext cx="82296" cy="1225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60624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8B5CF6"/>
                </a:solidFill>
                <a:latin typeface="Segoe UI Semibold"/>
              </a:rPr>
              <a:t>TIER 4 · Academic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537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Calderon 2014 BRT corridor model and Macalalag 2021 bike study serve as our anchors for validation.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7543800"/>
            <a:ext cx="10607040" cy="2194560"/>
          </a:xfrm>
          <a:prstGeom prst="roundRect">
            <a:avLst>
              <a:gd name="adj" fmla="val 5000"/>
            </a:avLst>
          </a:prstGeom>
          <a:solidFill>
            <a:srgbClr val="0E2456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772667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8BDF8"/>
                </a:solidFill>
                <a:latin typeface="Segoe UI Semibold"/>
              </a:rPr>
              <a:t>LICENSING &amp; 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8183879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Licences honoured: </a:t>
            </a:r>
            <a:r>
              <a:rPr sz="1400" b="0" i="0">
                <a:solidFill>
                  <a:srgbClr val="EAF1FF"/>
                </a:solidFill>
                <a:latin typeface="Segoe UI"/>
              </a:rPr>
              <a:t>We respect ODbL attribution and PSA/ESA open terms, with absolutely no scraping behind blocks.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Reproducible build: </a:t>
            </a:r>
            <a:r>
              <a:rPr sz="1400" b="0" i="0">
                <a:solidFill>
                  <a:srgbClr val="EAF1FF"/>
                </a:solidFill>
                <a:latin typeface="Segoe UI"/>
              </a:rPr>
              <a:t>idempotent fetch scripts; CCHAIN subset to Iloilo; BIR zonal values parsed; vintages stamped (newest first).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2606040"/>
            <a:ext cx="6172200" cy="7132320"/>
          </a:xfrm>
          <a:prstGeom prst="roundRect">
            <a:avLst>
              <a:gd name="adj" fmla="val 5000"/>
            </a:avLst>
          </a:prstGeom>
          <a:solidFill>
            <a:srgbClr val="081A45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41480" y="2834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9DB2DA"/>
                </a:solidFill>
                <a:latin typeface="Segoe UI Semibold"/>
              </a:rPr>
              <a:t>THE FOUNDATION IN 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41480" y="338328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38BDF8"/>
                </a:solidFill>
                <a:latin typeface="Consolas"/>
              </a:rPr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41480" y="4133088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Iloilo barangays in the data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41480" y="4956048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38BDF8"/>
                </a:solidFill>
                <a:latin typeface="Consolas"/>
              </a:rPr>
              <a:t>78 km²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41480" y="5705856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Pilot-city footprint with a full behavioral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41480" y="6528816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38BDF8"/>
                </a:solidFill>
                <a:latin typeface="Consolas"/>
              </a:rPr>
              <a:t>5,680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41480" y="7278624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BIR-priced land parcels parsed (RDO 74)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41480" y="8101583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38BDF8"/>
                </a:solidFill>
                <a:latin typeface="Consolas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41480" y="8851392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AF1FF"/>
                </a:solidFill>
                <a:latin typeface="Segoe UI"/>
              </a:rPr>
              <a:t>newest vintages preferred (POPCEN-CBMS)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AI ETHICS &amp;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Honesty engineered in — not bolted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08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8348472" cy="23957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825496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7616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Bias, audited in the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76169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The bias auditor anchors generated persona mode-share to ground-truth mode-share and logs every deviation to a public audit. (Today it flags and surfaces; automated reweighting is on the roadmap and we say so.)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9448" y="2697480"/>
            <a:ext cx="8348472" cy="23957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99448" y="2825496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10928" y="2971800"/>
            <a:ext cx="7616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Confidence over false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657600"/>
            <a:ext cx="76169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Every dimension advertises a confidence floor and reports ranges instead of fake point estimates. This is the safeguard that data-sparse ASEAN cities truly need.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03520"/>
            <a:ext cx="8348472" cy="23957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431536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7616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The informal economy, first-class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263640"/>
            <a:ext cx="76169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Jeepney, tricycle, and street-vendor displacement are modelled explicitly in Social and Economic modules, which is exactly what imported Western tools omit.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303520"/>
            <a:ext cx="8348472" cy="239572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299448" y="5431536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10928" y="5577840"/>
            <a:ext cx="7616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Privacy by design (RA 10173)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6263640"/>
            <a:ext cx="76169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No personal data exists in the pipeline, as we use open and aggregate sources only. The optional GPS-trace companion app is gated behind a Privacy Impact Assessment and counsel.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8092440"/>
            <a:ext cx="17007840" cy="914400"/>
          </a:xfrm>
          <a:prstGeom prst="roundRect">
            <a:avLst>
              <a:gd name="adj" fmla="val 7000"/>
            </a:avLst>
          </a:prstGeom>
          <a:solidFill>
            <a:srgbClr val="081A4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8220456"/>
            <a:ext cx="82296" cy="6583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8229600"/>
            <a:ext cx="16276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38BDF8"/>
                </a:solidFill>
                <a:latin typeface="Segoe UI Semibold"/>
              </a:rPr>
              <a:t>The glass box is the accountability mechanism:  </a:t>
            </a:r>
            <a:r>
              <a:rPr sz="1550" b="0" i="0">
                <a:solidFill>
                  <a:srgbClr val="EAF1FF"/>
                </a:solidFill>
                <a:latin typeface="Segoe UI"/>
              </a:rPr>
              <a:t>every number on screen is auditable to its equation, its open datasets, and a computed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PROTOTYPE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It runs today — and it shows its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09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0241280" cy="5486400"/>
          </a:xfrm>
          <a:prstGeom prst="roundRect">
            <a:avLst>
              <a:gd name="adj" fmla="val 3000"/>
            </a:avLst>
          </a:prstGeom>
          <a:solidFill>
            <a:srgbClr val="05122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241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dirty="0">
                <a:solidFill>
                  <a:srgbClr val="38BDF8"/>
                </a:solidFill>
                <a:latin typeface="Segoe UI Semibold"/>
              </a:rPr>
              <a:t>▶  LIVE DEMO </a:t>
            </a:r>
            <a:r>
              <a:rPr lang="en-US" sz="2200" b="1" i="0" dirty="0">
                <a:solidFill>
                  <a:srgbClr val="38BDF8"/>
                </a:solidFill>
                <a:latin typeface="Segoe UI Semibold"/>
              </a:rPr>
              <a:t>PLACEHOLDER</a:t>
            </a:r>
            <a:endParaRPr sz="2200" b="1" i="0" dirty="0">
              <a:solidFill>
                <a:srgbClr val="38BDF8"/>
              </a:solidFill>
              <a:latin typeface="Segoe UI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763524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>
                <a:solidFill>
                  <a:srgbClr val="7E93BE"/>
                </a:solidFill>
                <a:latin typeface="Segoe UI"/>
              </a:rPr>
              <a:t>Drop  scenario-playback.png  /  recorded run 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01400" y="2651760"/>
            <a:ext cx="6446520" cy="2606040"/>
          </a:xfrm>
          <a:prstGeom prst="roundRect">
            <a:avLst>
              <a:gd name="adj" fmla="val 4000"/>
            </a:avLst>
          </a:prstGeom>
          <a:solidFill>
            <a:srgbClr val="05122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01400" y="3566160"/>
            <a:ext cx="6446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8BDF8"/>
                </a:solidFill>
                <a:latin typeface="Segoe UI Semibold"/>
              </a:rPr>
              <a:t>🔍  INSPECT DRAWER</a:t>
            </a:r>
          </a:p>
          <a:p>
            <a:pPr algn="ctr"/>
            <a:r>
              <a:rPr sz="1250" b="0" i="0">
                <a:solidFill>
                  <a:srgbClr val="9DB2DA"/>
                </a:solidFill>
                <a:latin typeface="Segoe UI"/>
              </a:rPr>
              <a:t>equation → datasets → computed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201400" y="5486400"/>
            <a:ext cx="6446520" cy="265176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67160" y="566928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9DB2DA"/>
                </a:solidFill>
                <a:latin typeface="Segoe UI Semibold"/>
              </a:rPr>
              <a:t>THE AI “LOGIC”, 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67160" y="6126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15800" y="6108192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Plain-language query → Azure OpenAI sim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567160" y="6629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15800" y="6611112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Kernel runs → map animates while modules compute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67160" y="7132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15800" y="7114032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Five dimension cards stream in with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67160" y="7635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15800" y="7616952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EAF1FF"/>
                </a:solidFill>
                <a:latin typeface="Segoe UI"/>
              </a:rPr>
              <a:t>Click a number → the glass box opens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836676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Segoe UI Semibold"/>
              </a:rPr>
              <a:t>Live 90-second run in the pitch, with a recorded fallback ready. </a:t>
            </a:r>
            <a:r>
              <a:rPr sz="1450" b="0" i="0">
                <a:solidFill>
                  <a:srgbClr val="EAF1FF"/>
                </a:solidFill>
                <a:latin typeface="Segoe UI"/>
              </a:rPr>
              <a:t>The kernel, all five modules, the streaming API, and this frontend run end-to-end on 180 Iloilo barangays.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TECHNICAL HURDLES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What broke, and how we made it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10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8348472" cy="248716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825496"/>
            <a:ext cx="82296" cy="22311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935224"/>
            <a:ext cx="7616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Cross-dimension contradiction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4"/>
            <a:ext cx="7616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F4476A"/>
                </a:solidFill>
                <a:latin typeface="Segoe UI Semibold"/>
              </a:rPr>
              <a:t>HURDLE  </a:t>
            </a:r>
            <a:r>
              <a:rPr sz="1350" b="0" i="0">
                <a:solidFill>
                  <a:srgbClr val="9DB2DA"/>
                </a:solidFill>
                <a:latin typeface="Segoe UI"/>
              </a:rPr>
              <a:t>Five separate simulators disagreed on the same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7616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2C55E"/>
                </a:solidFill>
                <a:latin typeface="Segoe UI Semibold"/>
              </a:rPr>
              <a:t>FIX  </a:t>
            </a:r>
            <a:r>
              <a:rPr sz="1350" b="0" i="0">
                <a:solidFill>
                  <a:srgbClr val="EAF1FF"/>
                </a:solidFill>
                <a:latin typeface="Segoe UI"/>
              </a:rPr>
              <a:t>We built one unified kernel that generates a single trajectory dataset. Since every module scores the same data, they physically cannot diverge.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2697480"/>
            <a:ext cx="8348472" cy="248716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99448" y="2825496"/>
            <a:ext cx="82296" cy="223113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10928" y="2935224"/>
            <a:ext cx="7616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The model inventing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3483864"/>
            <a:ext cx="7616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F4476A"/>
                </a:solidFill>
                <a:latin typeface="Segoe UI Semibold"/>
              </a:rPr>
              <a:t>HURDLE  </a:t>
            </a:r>
            <a:r>
              <a:rPr sz="1350" b="0" i="0">
                <a:solidFill>
                  <a:srgbClr val="9DB2DA"/>
                </a:solidFill>
                <a:latin typeface="Segoe UI"/>
              </a:rPr>
              <a:t>An LLM will happily hallucinate a confident statistic.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4160520"/>
            <a:ext cx="7616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2C55E"/>
                </a:solidFill>
                <a:latin typeface="Segoe UI Semibold"/>
              </a:rPr>
              <a:t>FIX  </a:t>
            </a:r>
            <a:r>
              <a:rPr sz="1350" b="0" i="0">
                <a:solidFill>
                  <a:srgbClr val="EAF1FF"/>
                </a:solidFill>
                <a:latin typeface="Segoe UI"/>
              </a:rPr>
              <a:t>We enforced a glass-box contract and citation guard. An auditor blocks the merge if any number ships without clear provenance.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94960"/>
            <a:ext cx="8348472" cy="248716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5522976"/>
            <a:ext cx="82296" cy="22311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632704"/>
            <a:ext cx="7616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The 90-second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6181344"/>
            <a:ext cx="7616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F4476A"/>
                </a:solidFill>
                <a:latin typeface="Segoe UI Semibold"/>
              </a:rPr>
              <a:t>HURDLE  </a:t>
            </a:r>
            <a:r>
              <a:rPr sz="1350" b="0" i="0">
                <a:solidFill>
                  <a:srgbClr val="9DB2DA"/>
                </a:solidFill>
                <a:latin typeface="Segoe UI"/>
              </a:rPr>
              <a:t>A cold run still clocks around 123 seconds, which is over target.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6858000"/>
            <a:ext cx="7616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2C55E"/>
                </a:solidFill>
                <a:latin typeface="Segoe UI Semibold"/>
              </a:rPr>
              <a:t>FIX  </a:t>
            </a:r>
            <a:r>
              <a:rPr sz="1350" b="0" i="0">
                <a:solidFill>
                  <a:srgbClr val="EAF1FF"/>
                </a:solidFill>
                <a:latin typeface="Segoe UI"/>
              </a:rPr>
              <a:t>We introduced pre-warmed personas, delta-vs-baseline simulations, parallel modules, and a trajectory cache so repeat runs return in under a second.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5394960"/>
            <a:ext cx="8348472" cy="2487168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99448" y="5522976"/>
            <a:ext cx="82296" cy="2231136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10928" y="5632704"/>
            <a:ext cx="7616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Segoe UI Semibold"/>
              </a:rPr>
              <a:t>Data gaps &amp; provisional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6181344"/>
            <a:ext cx="7616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F4476A"/>
                </a:solidFill>
                <a:latin typeface="Segoe UI Semibold"/>
              </a:rPr>
              <a:t>HURDLE  </a:t>
            </a:r>
            <a:r>
              <a:rPr sz="1350" b="0" i="0">
                <a:solidFill>
                  <a:srgbClr val="9DB2DA"/>
                </a:solidFill>
                <a:latin typeface="Segoe UI"/>
              </a:rPr>
              <a:t>Mode-share isn’t calibrated; one flood fixture is provisional.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6858000"/>
            <a:ext cx="7616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2C55E"/>
                </a:solidFill>
                <a:latin typeface="Segoe UI Semibold"/>
              </a:rPr>
              <a:t>FIX  </a:t>
            </a:r>
            <a:r>
              <a:rPr sz="1350" b="0" i="0">
                <a:solidFill>
                  <a:srgbClr val="EAF1FF"/>
                </a:solidFill>
                <a:latin typeface="Segoe UI"/>
              </a:rPr>
              <a:t>We label them: Behavioral stays Medium, the fixture reads PROVISIONAL. Labelling provisional data is the feature.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827532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9DB2DA"/>
                </a:solidFill>
                <a:latin typeface="Segoe UI"/>
              </a:rPr>
              <a:t>Every stage is now measured and visible. We optimize against real numbers and are very transparent about what is a “target,” “planned,” or “provisional”. This kind of discipline is our brand.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ACCURACY &amp;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Computed instead of asserted, and honest about what isn’t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11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8BDF8"/>
                </a:solidFill>
                <a:latin typeface="Segoe UI Semibold"/>
              </a:rPr>
              <a:t>EFFICIENCY: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3182112" cy="1783080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64662" y="3223034"/>
            <a:ext cx="932948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i="0" dirty="0">
                <a:solidFill>
                  <a:srgbClr val="22C55E"/>
                </a:solidFill>
                <a:latin typeface="Consolas"/>
              </a:rPr>
              <a:t>186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05072"/>
            <a:ext cx="28163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DB2DA"/>
                </a:solidFill>
                <a:latin typeface="Segoe UI"/>
              </a:rPr>
              <a:t>Kernel tests pass (1 skipped)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1" y="2926080"/>
            <a:ext cx="3182112" cy="1783080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5602" y="3223034"/>
            <a:ext cx="1243930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3B82F6"/>
                </a:solidFill>
                <a:latin typeface="Consolas"/>
              </a:rPr>
              <a:t>90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4005072"/>
            <a:ext cx="28163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DB2DA"/>
                </a:solidFill>
                <a:latin typeface="Segoe UI"/>
              </a:rPr>
              <a:t>End-to-end budget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2926080"/>
            <a:ext cx="3182112" cy="1783080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035" y="3223034"/>
            <a:ext cx="1243930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  <a:latin typeface="Consolas"/>
              </a:rPr>
              <a:t>&lt;1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3" y="4005072"/>
            <a:ext cx="28163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DB2DA"/>
                </a:solidFill>
                <a:latin typeface="Segoe UI"/>
              </a:rPr>
              <a:t>Warm or cached repeat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09376" y="2926080"/>
            <a:ext cx="3182112" cy="1783080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444940" y="3223034"/>
            <a:ext cx="310983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3B82F6"/>
                </a:solidFill>
                <a:latin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92255" y="4005072"/>
            <a:ext cx="28163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DB2DA"/>
                </a:solidFill>
                <a:latin typeface="Segoe UI"/>
              </a:rPr>
              <a:t>Dimensions from one kernel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465807" y="2926080"/>
            <a:ext cx="3182112" cy="1783080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279406" y="3223034"/>
            <a:ext cx="1554913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5A524"/>
                </a:solidFill>
                <a:latin typeface="Consolas"/>
              </a:rPr>
              <a:t>123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48688" y="4005072"/>
            <a:ext cx="28163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DB2DA"/>
                </a:solidFill>
                <a:latin typeface="Segoe UI"/>
              </a:rPr>
              <a:t>Cold run time, over target but honest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8BDF8"/>
                </a:solidFill>
                <a:latin typeface="Segoe UI Semibold"/>
              </a:rPr>
              <a:t>ACCURACY: A VALIDATION HARNESS THAT GRADES ITSELF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40680"/>
            <a:ext cx="8348472" cy="178308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5568696"/>
            <a:ext cx="82296" cy="1527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5632704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egoe UI Semibold"/>
              </a:rPr>
              <a:t>VAL-01 · Behavioral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612648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Normalised RMSE vs the Calderon 2014 Iloilo BRT corridor.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6729984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onsolas"/>
              </a:rPr>
              <a:t>Threshold ≤ 0.30  (FHWA corridor band)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9448" y="5440680"/>
            <a:ext cx="8348472" cy="178308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299448" y="5568696"/>
            <a:ext cx="82296" cy="1527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10928" y="5632704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egoe UI Semibold"/>
              </a:rPr>
              <a:t>VAL-02 · Flood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612648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Spatial IoU back-test vs the 2024 Iloilo flood extent.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6729984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onsolas"/>
              </a:rPr>
              <a:t>Threshold ≥ 0.50  (Horritt &amp; Bates 2002)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7498079"/>
            <a:ext cx="17007840" cy="1371600"/>
          </a:xfrm>
          <a:prstGeom prst="roundRect">
            <a:avLst>
              <a:gd name="adj" fmla="val 6000"/>
            </a:avLst>
          </a:prstGeom>
          <a:solidFill>
            <a:srgbClr val="2A1A06"/>
          </a:solidFill>
          <a:ln w="12700">
            <a:solidFill>
              <a:srgbClr val="7A5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" y="7626096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1560" y="7680960"/>
            <a:ext cx="1636775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A524"/>
                </a:solidFill>
                <a:latin typeface="Segoe UI Semibold"/>
              </a:rPr>
              <a:t>The headline RMSE is deliberately withheld. </a:t>
            </a:r>
            <a:r>
              <a:rPr sz="1500" b="0" i="0">
                <a:solidFill>
                  <a:srgbClr val="EAF1FF"/>
                </a:solidFill>
                <a:latin typeface="Segoe UI"/>
              </a:rPr>
              <a:t>Mode-share isn’t calibrated yet, so Behavioral stays Medium and the flood fixture is PROVISIONAL. Publishing a confident number from uncalibrated demand would violate the glass-box principle the product is built on. The harness is built, it runs, and it publishes the moment the calibration data lands.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SCALABILITY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Scaling from one city to all of ASEAN is a config change, not a rebuild.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12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17007840" cy="1371600"/>
          </a:xfrm>
          <a:prstGeom prst="roundRect">
            <a:avLst>
              <a:gd name="adj" fmla="val 5000"/>
            </a:avLst>
          </a:prstGeom>
          <a:solidFill>
            <a:srgbClr val="0E245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798064"/>
            <a:ext cx="1636775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38BDF8"/>
                </a:solidFill>
                <a:latin typeface="Segoe UI Semibold"/>
              </a:rPr>
              <a:t>Zero hardware. </a:t>
            </a:r>
            <a:r>
              <a:rPr sz="1600" b="0" i="0">
                <a:solidFill>
                  <a:srgbClr val="EAF1FF"/>
                </a:solidFill>
                <a:latin typeface="Segoe UI"/>
              </a:rPr>
              <a:t>Scaling to a new city = swap the OpenStreetMap bounding box (API-level) and reweight the commuter personas to local modes (prompt-level). The city-agnostic CityConfig already lives in the code.</a:t>
            </a:r>
          </a:p>
          <a:p>
            <a:pPr algn="l"/>
            <a:r>
              <a:rPr sz="1550" b="1" i="0">
                <a:solidFill>
                  <a:srgbClr val="FFFFFF"/>
                </a:solidFill>
                <a:latin typeface="Segoe UI Semibold"/>
              </a:rPr>
              <a:t>The cost of adding a new ASEAN city is just API tokens, not expensive procurement.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3182112" cy="402336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461772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6163A"/>
                </a:solidFill>
                <a:latin typeface="Segoe UI Semibold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0352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00" b="1" i="0">
                <a:solidFill>
                  <a:srgbClr val="FFFFFF"/>
                </a:solidFill>
                <a:latin typeface="Segoe UI Semibold"/>
              </a:rPr>
              <a:t>Iloilo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126480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2C55E"/>
                </a:solidFill>
                <a:latin typeface="Segoe UI Semibold"/>
              </a:rPr>
              <a:t>Pilot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6629400"/>
            <a:ext cx="26334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9DB2DA"/>
                </a:solidFill>
                <a:latin typeface="Segoe UI"/>
              </a:rPr>
              <a:t>Informal transit modes: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EAF1FF"/>
                </a:solidFill>
                <a:latin typeface="Segoe UI Semibold"/>
              </a:rPr>
              <a:t>jeepney · tricycle · pedicab</a:t>
            </a:r>
          </a:p>
        </p:txBody>
      </p:sp>
      <p:sp>
        <p:nvSpPr>
          <p:cNvPr id="17" name="Chevron 16"/>
          <p:cNvSpPr/>
          <p:nvPr/>
        </p:nvSpPr>
        <p:spPr>
          <a:xfrm>
            <a:off x="3849624" y="6126480"/>
            <a:ext cx="219456" cy="45720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096511" y="4343400"/>
            <a:ext cx="3182112" cy="402336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70831" y="461772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6163A"/>
                </a:solidFill>
                <a:latin typeface="Segoe UI Semibol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30352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00" b="1" i="0">
                <a:solidFill>
                  <a:srgbClr val="FFFFFF"/>
                </a:solidFill>
                <a:latin typeface="Segoe UI Semibold"/>
              </a:rPr>
              <a:t>PH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126480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Segoe UI Semibold"/>
              </a:rPr>
              <a:t>Cebu · Davao · Bacolod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629400"/>
            <a:ext cx="26334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9DB2DA"/>
                </a:solidFill>
                <a:latin typeface="Segoe UI"/>
              </a:rPr>
              <a:t>Informal transit modes: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EAF1FF"/>
                </a:solidFill>
                <a:latin typeface="Segoe UI Semibold"/>
              </a:rPr>
              <a:t>same modes, new bbox</a:t>
            </a:r>
          </a:p>
        </p:txBody>
      </p:sp>
      <p:sp>
        <p:nvSpPr>
          <p:cNvPr id="23" name="Chevron 22"/>
          <p:cNvSpPr/>
          <p:nvPr/>
        </p:nvSpPr>
        <p:spPr>
          <a:xfrm>
            <a:off x="7306055" y="6126480"/>
            <a:ext cx="219456" cy="45720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52944" y="4343400"/>
            <a:ext cx="3182112" cy="402336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27264" y="461772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6163A"/>
                </a:solidFill>
                <a:latin typeface="Segoe UI Semibold"/>
              </a:rPr>
              <a:t>ASEAN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530352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00" b="1" i="0">
                <a:solidFill>
                  <a:srgbClr val="FFFFFF"/>
                </a:solidFill>
                <a:latin typeface="Segoe UI Semibold"/>
              </a:rPr>
              <a:t>Jakarta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6126480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Segoe UI Semibold"/>
              </a:rPr>
              <a:t>Indonesia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6629400"/>
            <a:ext cx="26334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9DB2DA"/>
                </a:solidFill>
                <a:latin typeface="Segoe UI"/>
              </a:rPr>
              <a:t>Informal transit modes: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EAF1FF"/>
                </a:solidFill>
                <a:latin typeface="Segoe UI Semibold"/>
              </a:rPr>
              <a:t>ojek · angkot</a:t>
            </a:r>
          </a:p>
        </p:txBody>
      </p:sp>
      <p:sp>
        <p:nvSpPr>
          <p:cNvPr id="29" name="Chevron 28"/>
          <p:cNvSpPr/>
          <p:nvPr/>
        </p:nvSpPr>
        <p:spPr>
          <a:xfrm>
            <a:off x="10762488" y="6126480"/>
            <a:ext cx="219456" cy="45720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009376" y="4343400"/>
            <a:ext cx="3182112" cy="402336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1283696" y="461772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6163A"/>
                </a:solidFill>
                <a:latin typeface="Segoe UI Semibold"/>
              </a:rPr>
              <a:t>ASEAN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01984" y="530352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00" b="1" i="0">
                <a:solidFill>
                  <a:srgbClr val="FFFFFF"/>
                </a:solidFill>
                <a:latin typeface="Segoe UI Semibold"/>
              </a:rPr>
              <a:t>Bangkok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01984" y="6126480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8B5CF6"/>
                </a:solidFill>
                <a:latin typeface="Segoe UI Semibold"/>
              </a:rPr>
              <a:t>Thailand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01984" y="6629400"/>
            <a:ext cx="26334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9DB2DA"/>
                </a:solidFill>
                <a:latin typeface="Segoe UI"/>
              </a:rPr>
              <a:t>Informal transit modes: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EAF1FF"/>
                </a:solidFill>
                <a:latin typeface="Segoe UI Semibold"/>
              </a:rPr>
              <a:t>songthaew · tuk-tuk</a:t>
            </a:r>
          </a:p>
        </p:txBody>
      </p:sp>
      <p:sp>
        <p:nvSpPr>
          <p:cNvPr id="35" name="Chevron 34"/>
          <p:cNvSpPr/>
          <p:nvPr/>
        </p:nvSpPr>
        <p:spPr>
          <a:xfrm>
            <a:off x="14218919" y="6126480"/>
            <a:ext cx="219456" cy="45720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4465807" y="4343400"/>
            <a:ext cx="3182112" cy="402336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5875">
            <a:solidFill>
              <a:srgbClr val="F44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4740127" y="461772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06163A"/>
                </a:solidFill>
                <a:latin typeface="Segoe UI Semibold"/>
              </a:rPr>
              <a:t>ASEAN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58415" y="530352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00" b="1" i="0">
                <a:solidFill>
                  <a:srgbClr val="FFFFFF"/>
                </a:solidFill>
                <a:latin typeface="Segoe UI Semibold"/>
              </a:rPr>
              <a:t>Ho Chi Minh / KL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58415" y="6126480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4476A"/>
                </a:solidFill>
                <a:latin typeface="Segoe UI Semibold"/>
              </a:rPr>
              <a:t>Vietnam · Malaysia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58415" y="6629400"/>
            <a:ext cx="26334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9DB2DA"/>
                </a:solidFill>
                <a:latin typeface="Segoe UI"/>
              </a:rPr>
              <a:t>Informal transit modes: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EAF1FF"/>
                </a:solidFill>
                <a:latin typeface="Segoe UI Semibold"/>
              </a:rPr>
              <a:t>xe-om · RapidKL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8595360"/>
            <a:ext cx="1700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1">
                <a:solidFill>
                  <a:srgbClr val="9DB2DA"/>
                </a:solidFill>
                <a:latin typeface="Segoe UI"/>
              </a:rPr>
              <a:t>Recognizing local informal transit modes like the ojek, angkot, songthaew, tuk-tuk, and xe-om is exactly what imported Western planning tools fail to 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IMPACT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Aligned to the UN SDGs and ASEAN resilience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13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3182112" cy="1874519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19" y="3063240"/>
            <a:ext cx="1143000" cy="1143000"/>
          </a:xfrm>
          <a:prstGeom prst="roundRect">
            <a:avLst>
              <a:gd name="adj" fmla="val 8000"/>
            </a:avLst>
          </a:prstGeom>
          <a:solidFill>
            <a:srgbClr val="FD9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SDG
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54680"/>
            <a:ext cx="13533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Sustainable 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1" y="2697480"/>
            <a:ext cx="3182112" cy="1874519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1" y="3063240"/>
            <a:ext cx="1143000" cy="1143000"/>
          </a:xfrm>
          <a:prstGeom prst="roundRect">
            <a:avLst>
              <a:gd name="adj" fmla="val 8000"/>
            </a:avLst>
          </a:prstGeom>
          <a:solidFill>
            <a:srgbClr val="3F7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SDG
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1" y="3154680"/>
            <a:ext cx="13533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Climate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2944" y="2697480"/>
            <a:ext cx="3182112" cy="1874519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72983" y="3063240"/>
            <a:ext cx="1143000" cy="1143000"/>
          </a:xfrm>
          <a:prstGeom prst="roundRect">
            <a:avLst>
              <a:gd name="adj" fmla="val 8000"/>
            </a:avLst>
          </a:prstGeom>
          <a:solidFill>
            <a:srgbClr val="FD6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SDG
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154680"/>
            <a:ext cx="13533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Industry &amp; Innovation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09376" y="2697480"/>
            <a:ext cx="3182112" cy="1874519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329415" y="3063240"/>
            <a:ext cx="1143000" cy="1143000"/>
          </a:xfrm>
          <a:prstGeom prst="roundRect">
            <a:avLst>
              <a:gd name="adj" fmla="val 8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SDG
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5296" y="3154680"/>
            <a:ext cx="13533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Reduced Inequalities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465807" y="2697480"/>
            <a:ext cx="3182112" cy="1874519"/>
          </a:xfrm>
          <a:prstGeom prst="roundRect">
            <a:avLst>
              <a:gd name="adj" fmla="val 6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4785847" y="3063240"/>
            <a:ext cx="1143000" cy="1143000"/>
          </a:xfrm>
          <a:prstGeom prst="roundRect">
            <a:avLst>
              <a:gd name="adj" fmla="val 8000"/>
            </a:avLst>
          </a:prstGeom>
          <a:solidFill>
            <a:srgbClr val="4C9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SDG
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11727" y="3154680"/>
            <a:ext cx="13533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Good Health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065776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13892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egoe UI Semibold"/>
              </a:rPr>
              <a:t>De-risks capital before it’s committed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32704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Flood-risk redistribution, climate exposure, and equity are scored pre-construction rather than discovered on opening 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6455664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6583680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F44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6656832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egoe UI Semibold"/>
              </a:rPr>
              <a:t>Equity is a first-class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71506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Equity-weighted access and informal-worker displacement are modeled and scored, not just assumed (SDG 10).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7973568"/>
            <a:ext cx="11338560" cy="13716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8101584"/>
            <a:ext cx="82296" cy="11155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8174736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egoe UI Semibold"/>
              </a:rPr>
              <a:t>A public-trust instrument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866851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 i="0">
                <a:solidFill>
                  <a:srgbClr val="EAF1FF"/>
                </a:solidFill>
                <a:latin typeface="Segoe UI"/>
              </a:rPr>
              <a:t>Confidence-anchored and auditable outputs provide the transparency that data-sparse ASEAN cities need to trust a model.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161520" y="4937760"/>
            <a:ext cx="5486400" cy="4078224"/>
          </a:xfrm>
          <a:prstGeom prst="roundRect">
            <a:avLst>
              <a:gd name="adj" fmla="val 5000"/>
            </a:avLst>
          </a:prstGeom>
          <a:solidFill>
            <a:srgbClr val="081A4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527280" y="5166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DB2DA"/>
                </a:solidFill>
                <a:latin typeface="Segoe UI Semibold"/>
              </a:rPr>
              <a:t>REGIONAL ANCHOR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0" y="566928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38BDF8"/>
                </a:solidFill>
                <a:latin typeface="Segoe UI Semibold"/>
              </a:rPr>
              <a:t>Iloilo City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2026 ASEAN Clean Tourist City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AF1FF"/>
                </a:solidFill>
                <a:latin typeface="Segoe UI"/>
              </a:rPr>
              <a:t>Aligns with the ASEAN Smart Cities Network and the AAIH 2026 sustainability theme. It serves as a representative suburban-metro testbed, not just an isolated special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8872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8BDF8"/>
                </a:solidFill>
                <a:latin typeface="Segoe UI Semibold"/>
              </a:rPr>
              <a:t>FUTURE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700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egoe UI Semibold"/>
              </a:rPr>
              <a:t>After the hackathon: moving from prototype to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27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E93BE"/>
                </a:solidFill>
                <a:latin typeface="Segoe UI"/>
              </a:rPr>
              <a:t>MATRIX  ·  Pre-Construction Infrastructure Impact Simulator  ·  Team ATLAN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0" y="10927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DB2DA"/>
                </a:solidFill>
                <a:latin typeface="Consolas"/>
              </a:rP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017520"/>
            <a:ext cx="64008" cy="6126480"/>
          </a:xfrm>
          <a:prstGeom prst="rect">
            <a:avLst/>
          </a:prstGeom>
          <a:solidFill>
            <a:srgbClr val="2C5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737360" y="2788920"/>
            <a:ext cx="15910559" cy="1517904"/>
          </a:xfrm>
          <a:prstGeom prst="roundRect">
            <a:avLst>
              <a:gd name="adj" fmla="val 4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37360" y="2916936"/>
            <a:ext cx="82296" cy="126187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3026663"/>
            <a:ext cx="1527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NOW: Close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557015"/>
            <a:ext cx="1527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Calibrate mode-share to publish the VAL-01 RMSE, replace the provisional flood fixture to publish VAL-02 IoU, and drive the cold run time under 90 seconds.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09159"/>
            <a:ext cx="502920" cy="50292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37360" y="4544568"/>
            <a:ext cx="15910559" cy="1517904"/>
          </a:xfrm>
          <a:prstGeom prst="roundRect">
            <a:avLst>
              <a:gd name="adj" fmla="val 4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37360" y="4672583"/>
            <a:ext cx="82296" cy="12618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4782312"/>
            <a:ext cx="1527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NEXT: Deepen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312664"/>
            <a:ext cx="1527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Upgrade the bias auditor from flagging to reweighting, integrate a Hiligaynon gazetteer for colloquial place names, and establish a CPDO feedback loop.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6464807"/>
            <a:ext cx="502920" cy="50292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737360" y="6300216"/>
            <a:ext cx="15910559" cy="1517904"/>
          </a:xfrm>
          <a:prstGeom prst="roundRect">
            <a:avLst>
              <a:gd name="adj" fmla="val 4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737360" y="6428231"/>
            <a:ext cx="82296" cy="12618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6537959"/>
            <a:ext cx="1527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PILOT: Prove it in Iloilo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7068312"/>
            <a:ext cx="1527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Have a real CPDO planner validate the demo, secure LGU and academic partnerships, and deliver a signed pilot scenario.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8220455"/>
            <a:ext cx="502920" cy="50292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737360" y="8055863"/>
            <a:ext cx="15910559" cy="1517904"/>
          </a:xfrm>
          <a:prstGeom prst="roundRect">
            <a:avLst>
              <a:gd name="adj" fmla="val 4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737360" y="8183879"/>
            <a:ext cx="82296" cy="1261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48840" y="8293607"/>
            <a:ext cx="1527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PRODUCT: Sustain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8823959"/>
            <a:ext cx="1527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EAF1FF"/>
                </a:solidFill>
                <a:latin typeface="Segoe UI"/>
              </a:rPr>
              <a:t>Launch a public-good free tier for LGUs and academia, followed by a paid SaaS tier later. We are deliberately holding off on pricing to focus on adoption and credibility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43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aa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"/>
            <a:ext cx="1319538" cy="658368"/>
          </a:xfrm>
          <a:prstGeom prst="rect">
            <a:avLst/>
          </a:prstGeom>
        </p:spPr>
      </p:pic>
      <p:pic>
        <p:nvPicPr>
          <p:cNvPr id="5" name="Picture 4" descr="logo_p2a_as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048" y="182880"/>
            <a:ext cx="12577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25880"/>
            <a:ext cx="1700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Segoe UI Semibold"/>
              </a:rPr>
              <a:t>TEAM ATLAN  ·  POLYTECHNIC UNIVERSITY OF THE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 Semibold"/>
              </a:rPr>
              <a:t>The people behind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182112" cy="41148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45336" y="3246120"/>
            <a:ext cx="1371600" cy="137160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emibold"/>
              </a:rPr>
              <a:t>CJ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6736" y="48188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06163A"/>
                </a:solidFill>
                <a:latin typeface="Segoe UI Semibold"/>
              </a:rPr>
              <a:t>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349240"/>
            <a:ext cx="26700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Carlos Jerico Dela Torre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6190488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DB2DA"/>
                </a:solidFill>
                <a:latin typeface="Segoe UI"/>
              </a:rPr>
              <a:t>AI &amp; Software Dev · Product &amp; Business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1" y="2880360"/>
            <a:ext cx="3182112" cy="41148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001768" y="3246120"/>
            <a:ext cx="1371600" cy="137160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emibold"/>
              </a:rPr>
              <a:t>YM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48188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06163A"/>
                </a:solidFill>
                <a:latin typeface="Segoe UI Semibold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5349240"/>
            <a:ext cx="26700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Yushin Bjorn Matsuda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6190488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DB2DA"/>
                </a:solidFill>
                <a:latin typeface="Segoe UI"/>
              </a:rPr>
              <a:t>AI &amp; Software Development · UI/UX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2944" y="2880360"/>
            <a:ext cx="3182112" cy="41148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58200" y="3246120"/>
            <a:ext cx="1371600" cy="137160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emibold"/>
              </a:rPr>
              <a:t>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188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06163A"/>
                </a:solidFill>
                <a:latin typeface="Segoe UI Semibold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5349240"/>
            <a:ext cx="26700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Maria Espina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6190488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DB2DA"/>
                </a:solidFill>
                <a:latin typeface="Segoe UI"/>
              </a:rPr>
              <a:t>QA · UI/UX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09376" y="2880360"/>
            <a:ext cx="3182112" cy="41148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914632" y="3246120"/>
            <a:ext cx="1371600" cy="13716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emibold"/>
              </a:rPr>
              <a:t>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86032" y="48188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06163A"/>
                </a:solidFill>
                <a:latin typeface="Segoe UI Semibold"/>
              </a:rPr>
              <a:t>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65407" y="5349240"/>
            <a:ext cx="26700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Rica Mae Mago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65407" y="6190488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DB2DA"/>
                </a:solidFill>
                <a:latin typeface="Segoe UI"/>
              </a:rPr>
              <a:t>QA · Research &amp; Marketing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465807" y="2880360"/>
            <a:ext cx="3182112" cy="4114800"/>
          </a:xfrm>
          <a:prstGeom prst="roundRect">
            <a:avLst>
              <a:gd name="adj" fmla="val 5000"/>
            </a:avLst>
          </a:prstGeom>
          <a:solidFill>
            <a:srgbClr val="0B1E4D"/>
          </a:solidFill>
          <a:ln w="12700">
            <a:solidFill>
              <a:srgbClr val="2C5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5371063" y="3246120"/>
            <a:ext cx="1371600" cy="137160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emibold"/>
              </a:rPr>
              <a:t>RF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142463" y="48188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06163A"/>
                </a:solidFill>
                <a:latin typeface="Segoe UI Semibold"/>
              </a:rPr>
              <a:t>RESEARCH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21839" y="5349240"/>
            <a:ext cx="26700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Russell Jay Fajardo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39" y="6190488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DB2DA"/>
                </a:solidFill>
                <a:latin typeface="Segoe UI"/>
              </a:rPr>
              <a:t>QA · Research &amp; Marketing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7406640"/>
            <a:ext cx="17007840" cy="1371600"/>
          </a:xfrm>
          <a:prstGeom prst="roundRect">
            <a:avLst>
              <a:gd name="adj" fmla="val 6000"/>
            </a:avLst>
          </a:prstGeom>
          <a:solidFill>
            <a:srgbClr val="081A4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7979923"/>
            <a:ext cx="1645920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dirty="0">
                <a:solidFill>
                  <a:srgbClr val="38BDF8"/>
                </a:solidFill>
                <a:latin typeface="Segoe UI Semibold"/>
              </a:rPr>
              <a:t>MATRIX: </a:t>
            </a:r>
            <a:r>
              <a:rPr lang="en-US" sz="1700" b="1" dirty="0">
                <a:solidFill>
                  <a:srgbClr val="38BDF8"/>
                </a:solidFill>
                <a:latin typeface="Segoe UI Semibold"/>
              </a:rPr>
              <a:t>D</a:t>
            </a:r>
            <a:r>
              <a:rPr sz="1700" b="1" i="0" dirty="0">
                <a:solidFill>
                  <a:srgbClr val="38BDF8"/>
                </a:solidFill>
                <a:latin typeface="Segoe UI Semibold"/>
              </a:rPr>
              <a:t>ecide before you build.</a:t>
            </a:r>
          </a:p>
        </p:txBody>
      </p:sp>
      <p:pic>
        <p:nvPicPr>
          <p:cNvPr id="35" name="Picture 34" descr="logo_wor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0698480"/>
            <a:ext cx="2340434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2467</Words>
  <Application>Microsoft Office PowerPoint</Application>
  <PresentationFormat>Custom</PresentationFormat>
  <Paragraphs>331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Jerico Dela Torre</cp:lastModifiedBy>
  <cp:revision>4</cp:revision>
  <dcterms:created xsi:type="dcterms:W3CDTF">2013-01-27T09:14:16Z</dcterms:created>
  <dcterms:modified xsi:type="dcterms:W3CDTF">2026-06-22T16:26:10Z</dcterms:modified>
  <cp:category/>
</cp:coreProperties>
</file>